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4"/>
  </p:sldMasterIdLst>
  <p:notesMasterIdLst>
    <p:notesMasterId r:id="rId44"/>
  </p:notesMasterIdLst>
  <p:handoutMasterIdLst>
    <p:handoutMasterId r:id="rId45"/>
  </p:handoutMasterIdLst>
  <p:sldIdLst>
    <p:sldId id="259" r:id="rId5"/>
    <p:sldId id="257" r:id="rId6"/>
    <p:sldId id="265" r:id="rId7"/>
    <p:sldId id="766" r:id="rId8"/>
    <p:sldId id="772" r:id="rId9"/>
    <p:sldId id="767" r:id="rId10"/>
    <p:sldId id="768" r:id="rId11"/>
    <p:sldId id="268" r:id="rId12"/>
    <p:sldId id="773" r:id="rId13"/>
    <p:sldId id="774" r:id="rId14"/>
    <p:sldId id="775" r:id="rId15"/>
    <p:sldId id="776" r:id="rId16"/>
    <p:sldId id="777" r:id="rId17"/>
    <p:sldId id="778" r:id="rId18"/>
    <p:sldId id="779" r:id="rId19"/>
    <p:sldId id="781" r:id="rId20"/>
    <p:sldId id="782" r:id="rId21"/>
    <p:sldId id="783" r:id="rId22"/>
    <p:sldId id="747" r:id="rId23"/>
    <p:sldId id="748" r:id="rId24"/>
    <p:sldId id="749" r:id="rId25"/>
    <p:sldId id="750" r:id="rId26"/>
    <p:sldId id="751" r:id="rId27"/>
    <p:sldId id="764" r:id="rId28"/>
    <p:sldId id="752" r:id="rId29"/>
    <p:sldId id="753" r:id="rId30"/>
    <p:sldId id="763" r:id="rId31"/>
    <p:sldId id="761" r:id="rId32"/>
    <p:sldId id="762" r:id="rId33"/>
    <p:sldId id="760" r:id="rId34"/>
    <p:sldId id="754" r:id="rId35"/>
    <p:sldId id="765" r:id="rId36"/>
    <p:sldId id="755" r:id="rId37"/>
    <p:sldId id="756" r:id="rId38"/>
    <p:sldId id="785" r:id="rId39"/>
    <p:sldId id="757" r:id="rId40"/>
    <p:sldId id="758" r:id="rId41"/>
    <p:sldId id="759" r:id="rId42"/>
    <p:sldId id="269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578CD1-A3A9-4E10-BEC0-AE0D1BE5FD1F}" v="4" dt="2022-08-03T15:58:17.005"/>
    <p1510:client id="{0AD8BE00-25EA-433B-9A19-D3BFF05BF86D}" v="1" dt="2022-07-07T10:21:36.012"/>
    <p1510:client id="{0F515B07-4EF2-477F-93ED-CE27FD73E724}" v="2" dt="2022-08-04T09:48:32.741"/>
    <p1510:client id="{1566E91C-DFF5-4582-AD08-E24849042054}" v="2" dt="2022-07-25T13:40:21.045"/>
    <p1510:client id="{18D83C03-96CD-4199-A07A-9DF42F9C48DA}" v="1" dt="2022-07-22T16:10:59.893"/>
    <p1510:client id="{199B18E9-D4BB-498E-9673-BA7365D4CE71}" v="2" dt="2022-08-05T15:54:21.868"/>
    <p1510:client id="{1A2AE941-A9AA-46A3-A66C-C325FA936892}" v="8" dt="2022-08-06T03:11:49.162"/>
    <p1510:client id="{1D0A89CC-AA7D-4800-BC0E-E1305EF9E58C}" v="2" dt="2022-07-05T04:52:38.155"/>
    <p1510:client id="{1D693A72-756B-4FCE-BC9D-C16E20E1AA58}" v="2" dt="2022-07-06T11:17:28.961"/>
    <p1510:client id="{2201E8DC-A804-4C0F-802F-24443A13A046}" v="1" dt="2022-07-12T16:18:12.028"/>
    <p1510:client id="{273264E2-3812-4896-A8D0-714CFEF97C4F}" v="1" dt="2022-07-05T04:47:40.737"/>
    <p1510:client id="{3A1A3C95-9109-4D31-BA3C-93C9579292FA}" v="3" dt="2022-08-14T02:53:03.974"/>
    <p1510:client id="{4BFA80EA-4EA5-47C7-9D8C-E36CA4A723F6}" v="1" dt="2022-07-12T01:06:40.831"/>
    <p1510:client id="{55449186-5A77-481E-9288-6602C5A60372}" v="3" dt="2022-08-09T09:34:03.309"/>
    <p1510:client id="{6EE7A641-46A0-43DC-A8B7-646F335CB5D0}" v="2" dt="2022-07-06T13:10:52.040"/>
    <p1510:client id="{70ED09D2-B29A-42CE-A4B7-EF5B2D104CBF}" v="3" dt="2022-07-24T10:45:25.018"/>
    <p1510:client id="{74B6DFF0-B66D-47C9-88A1-A2C96937D056}" v="2" dt="2022-07-05T02:20:11.109"/>
    <p1510:client id="{A7438292-DF62-4B60-BA18-A8DB1026EFB6}" v="2" dt="2022-07-25T15:20:43.764"/>
    <p1510:client id="{D5049E02-92FF-1DA5-8A9C-7F21704C2314}" v="2" dt="2022-07-28T03:57:04.823"/>
    <p1510:client id="{E2CE7F37-B2B1-41FD-AACA-FCDD8F474C49}" v="1" dt="2022-08-02T13:37:42.3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19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931763-0DAF-45B9-B167-4D51E848B3A3}" type="slidenum">
              <a:rPr kumimoji="0" lang="vi-V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vi-V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29802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931763-0DAF-45B9-B167-4D51E848B3A3}" type="slidenum">
              <a:rPr lang="vi-VN" smtClean="0"/>
              <a:pPr/>
              <a:t>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33113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931763-0DAF-45B9-B167-4D51E848B3A3}" type="slidenum">
              <a:rPr lang="vi-VN" smtClean="0"/>
              <a:pPr/>
              <a:t>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52749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931763-0DAF-45B9-B167-4D51E848B3A3}" type="slidenum">
              <a:rPr lang="vi-VN" smtClean="0"/>
              <a:pPr/>
              <a:t>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395191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931763-0DAF-45B9-B167-4D51E848B3A3}" type="slidenum">
              <a:rPr lang="vi-VN" smtClean="0"/>
              <a:pPr/>
              <a:t>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286201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076723C-27A7-462D-8C31-C389F6443C5D}" type="slidenum">
              <a:rPr lang="en-US" altLang="en-US" sz="1300" b="0" smtClean="0"/>
              <a:pPr/>
              <a:t>19</a:t>
            </a:fld>
            <a:endParaRPr lang="en-US" altLang="en-US" sz="1300" b="0"/>
          </a:p>
        </p:txBody>
      </p:sp>
      <p:sp>
        <p:nvSpPr>
          <p:cNvPr id="852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29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24146253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076723C-27A7-462D-8C31-C389F6443C5D}" type="slidenum">
              <a:rPr lang="en-US" altLang="en-US" sz="1300" b="0" smtClean="0"/>
              <a:pPr/>
              <a:t>20</a:t>
            </a:fld>
            <a:endParaRPr lang="en-US" altLang="en-US" sz="1300" b="0"/>
          </a:p>
        </p:txBody>
      </p:sp>
      <p:sp>
        <p:nvSpPr>
          <p:cNvPr id="852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29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5709660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076723C-27A7-462D-8C31-C389F6443C5D}" type="slidenum">
              <a:rPr lang="en-US" altLang="en-US" sz="1300" b="0" smtClean="0"/>
              <a:pPr/>
              <a:t>21</a:t>
            </a:fld>
            <a:endParaRPr lang="en-US" altLang="en-US" sz="1300" b="0"/>
          </a:p>
        </p:txBody>
      </p:sp>
      <p:sp>
        <p:nvSpPr>
          <p:cNvPr id="852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29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9222759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076723C-27A7-462D-8C31-C389F6443C5D}" type="slidenum">
              <a:rPr lang="en-US" altLang="en-US" sz="1300" b="0" smtClean="0"/>
              <a:pPr/>
              <a:t>22</a:t>
            </a:fld>
            <a:endParaRPr lang="en-US" altLang="en-US" sz="1300" b="0"/>
          </a:p>
        </p:txBody>
      </p:sp>
      <p:sp>
        <p:nvSpPr>
          <p:cNvPr id="852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29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4679533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076723C-27A7-462D-8C31-C389F6443C5D}" type="slidenum">
              <a:rPr lang="en-US" altLang="en-US" sz="1300" b="0" smtClean="0"/>
              <a:pPr/>
              <a:t>23</a:t>
            </a:fld>
            <a:endParaRPr lang="en-US" altLang="en-US" sz="1300" b="0"/>
          </a:p>
        </p:txBody>
      </p:sp>
      <p:sp>
        <p:nvSpPr>
          <p:cNvPr id="852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29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6411255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076723C-27A7-462D-8C31-C389F6443C5D}" type="slidenum">
              <a:rPr lang="en-US" altLang="en-US" sz="1300" b="0" smtClean="0"/>
              <a:pPr/>
              <a:t>24</a:t>
            </a:fld>
            <a:endParaRPr lang="en-US" altLang="en-US" sz="1300" b="0"/>
          </a:p>
        </p:txBody>
      </p:sp>
      <p:sp>
        <p:nvSpPr>
          <p:cNvPr id="852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29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9778158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076723C-27A7-462D-8C31-C389F6443C5D}" type="slidenum">
              <a:rPr lang="en-US" altLang="en-US" sz="1300" b="0" smtClean="0"/>
              <a:pPr/>
              <a:t>25</a:t>
            </a:fld>
            <a:endParaRPr lang="en-US" altLang="en-US" sz="1300" b="0"/>
          </a:p>
        </p:txBody>
      </p:sp>
      <p:sp>
        <p:nvSpPr>
          <p:cNvPr id="852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29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6159482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076723C-27A7-462D-8C31-C389F6443C5D}" type="slidenum">
              <a:rPr lang="en-US" altLang="en-US" sz="1300" b="0" smtClean="0"/>
              <a:pPr/>
              <a:t>26</a:t>
            </a:fld>
            <a:endParaRPr lang="en-US" altLang="en-US" sz="1300" b="0"/>
          </a:p>
        </p:txBody>
      </p:sp>
      <p:sp>
        <p:nvSpPr>
          <p:cNvPr id="852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29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4520308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076723C-27A7-462D-8C31-C389F6443C5D}" type="slidenum">
              <a:rPr lang="en-US" altLang="en-US" sz="1300" b="0" smtClean="0"/>
              <a:pPr/>
              <a:t>27</a:t>
            </a:fld>
            <a:endParaRPr lang="en-US" altLang="en-US" sz="1300" b="0"/>
          </a:p>
        </p:txBody>
      </p:sp>
      <p:sp>
        <p:nvSpPr>
          <p:cNvPr id="852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29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121779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076723C-27A7-462D-8C31-C389F6443C5D}" type="slidenum">
              <a:rPr lang="en-US" altLang="en-US" sz="1300" b="0" smtClean="0"/>
              <a:pPr/>
              <a:t>28</a:t>
            </a:fld>
            <a:endParaRPr lang="en-US" altLang="en-US" sz="1300" b="0"/>
          </a:p>
        </p:txBody>
      </p:sp>
      <p:sp>
        <p:nvSpPr>
          <p:cNvPr id="852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29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29454903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076723C-27A7-462D-8C31-C389F6443C5D}" type="slidenum">
              <a:rPr lang="en-US" altLang="en-US" sz="1300" b="0" smtClean="0"/>
              <a:pPr/>
              <a:t>29</a:t>
            </a:fld>
            <a:endParaRPr lang="en-US" altLang="en-US" sz="1300" b="0"/>
          </a:p>
        </p:txBody>
      </p:sp>
      <p:sp>
        <p:nvSpPr>
          <p:cNvPr id="852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29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36622636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076723C-27A7-462D-8C31-C389F6443C5D}" type="slidenum">
              <a:rPr lang="en-US" altLang="en-US" sz="1300" b="0" smtClean="0"/>
              <a:pPr/>
              <a:t>31</a:t>
            </a:fld>
            <a:endParaRPr lang="en-US" altLang="en-US" sz="1300" b="0"/>
          </a:p>
        </p:txBody>
      </p:sp>
      <p:sp>
        <p:nvSpPr>
          <p:cNvPr id="852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29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4637115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076723C-27A7-462D-8C31-C389F6443C5D}" type="slidenum">
              <a:rPr lang="en-US" altLang="en-US" sz="1300" b="0" smtClean="0"/>
              <a:pPr/>
              <a:t>32</a:t>
            </a:fld>
            <a:endParaRPr lang="en-US" altLang="en-US" sz="1300" b="0"/>
          </a:p>
        </p:txBody>
      </p:sp>
      <p:sp>
        <p:nvSpPr>
          <p:cNvPr id="852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29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3775013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076723C-27A7-462D-8C31-C389F6443C5D}" type="slidenum">
              <a:rPr lang="en-US" altLang="en-US" sz="1300" b="0" smtClean="0"/>
              <a:pPr/>
              <a:t>33</a:t>
            </a:fld>
            <a:endParaRPr lang="en-US" altLang="en-US" sz="1300" b="0"/>
          </a:p>
        </p:txBody>
      </p:sp>
      <p:sp>
        <p:nvSpPr>
          <p:cNvPr id="852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29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4738039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076723C-27A7-462D-8C31-C389F6443C5D}" type="slidenum">
              <a:rPr lang="en-US" altLang="en-US" sz="1300" b="0" smtClean="0"/>
              <a:pPr/>
              <a:t>34</a:t>
            </a:fld>
            <a:endParaRPr lang="en-US" altLang="en-US" sz="1300" b="0"/>
          </a:p>
        </p:txBody>
      </p:sp>
      <p:sp>
        <p:nvSpPr>
          <p:cNvPr id="852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29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23219732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076723C-27A7-462D-8C31-C389F6443C5D}" type="slidenum">
              <a:rPr lang="en-US" altLang="en-US" sz="1300" b="0" smtClean="0"/>
              <a:pPr/>
              <a:t>36</a:t>
            </a:fld>
            <a:endParaRPr lang="en-US" altLang="en-US" sz="1300" b="0"/>
          </a:p>
        </p:txBody>
      </p:sp>
      <p:sp>
        <p:nvSpPr>
          <p:cNvPr id="852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29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39448975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076723C-27A7-462D-8C31-C389F6443C5D}" type="slidenum">
              <a:rPr lang="en-US" altLang="en-US" sz="1300" b="0" smtClean="0"/>
              <a:pPr/>
              <a:t>37</a:t>
            </a:fld>
            <a:endParaRPr lang="en-US" altLang="en-US" sz="1300" b="0"/>
          </a:p>
        </p:txBody>
      </p:sp>
      <p:sp>
        <p:nvSpPr>
          <p:cNvPr id="852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29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9125071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076723C-27A7-462D-8C31-C389F6443C5D}" type="slidenum">
              <a:rPr lang="en-US" altLang="en-US" sz="1300" b="0" smtClean="0"/>
              <a:pPr/>
              <a:t>38</a:t>
            </a:fld>
            <a:endParaRPr lang="en-US" altLang="en-US" sz="1300" b="0"/>
          </a:p>
        </p:txBody>
      </p:sp>
      <p:sp>
        <p:nvSpPr>
          <p:cNvPr id="852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29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746781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2348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712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95920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324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0685"/>
          </a:xfrm>
        </p:spPr>
        <p:txBody>
          <a:bodyPr>
            <a:normAutofit/>
          </a:bodyPr>
          <a:lstStyle>
            <a:lvl1pPr>
              <a:defRPr sz="3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b="1" i="0"/>
            </a:lvl2pPr>
            <a:lvl3pPr>
              <a:defRPr i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70C66-0A23-5A4D-B4A8-E46FF5C73983}" type="datetime1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3379D-D487-4446-85FC-E9ED5B8B80F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644008"/>
      </p:ext>
    </p:extLst>
  </p:cSld>
  <p:clrMapOvr>
    <a:masterClrMapping/>
  </p:clrMapOvr>
  <p:transition spd="slow"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804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4: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6/10/2026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5: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6/10/2026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933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770A1-C9A9-9B4F-823C-AD76C6100878}" type="datetime1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3379D-D487-4446-85FC-E9ED5B8B80F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209934"/>
      </p:ext>
    </p:extLst>
  </p:cSld>
  <p:clrMapOvr>
    <a:masterClrMapping/>
  </p:clrMapOvr>
  <p:transition spd="slow">
    <p:dissolv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>
            <a:normAutofit/>
          </a:bodyPr>
          <a:lstStyle>
            <a:lvl1pPr>
              <a:defRPr sz="3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0CD7D-5104-8342-8709-D45F5E8213B2}" type="datetime1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3379D-D487-4446-85FC-E9ED5B8B80F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348576"/>
      </p:ext>
    </p:extLst>
  </p:cSld>
  <p:clrMapOvr>
    <a:masterClrMapping/>
  </p:clrMapOvr>
  <p:transition spd="slow">
    <p:dissolv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4D453-8BBF-BE4D-891B-7BF302C8082C}" type="datetime1">
              <a:rPr lang="en-US" altLang="zh-CN" smtClean="0"/>
              <a:t>6/10/2026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IT4611 - Các hệ thống phân tán và Ứng dụng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88B7E-86B8-4862-842E-2DB840C1E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814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932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3" r:id="rId2"/>
    <p:sldLayoutId id="2147483684" r:id="rId3"/>
    <p:sldLayoutId id="2147483688" r:id="rId4"/>
    <p:sldLayoutId id="2147483689" r:id="rId5"/>
    <p:sldLayoutId id="2147483670" r:id="rId6"/>
    <p:sldLayoutId id="2147483671" r:id="rId7"/>
    <p:sldLayoutId id="2147483672" r:id="rId8"/>
    <p:sldLayoutId id="2147483673" r:id="rId9"/>
    <p:sldLayoutId id="2147483676" r:id="rId10"/>
    <p:sldLayoutId id="2147483677" r:id="rId11"/>
    <p:sldLayoutId id="2147483678" r:id="rId12"/>
    <p:sldLayoutId id="2147483690" r:id="rId13"/>
    <p:sldLayoutId id="2147483691" r:id="rId14"/>
    <p:sldLayoutId id="2147483692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verleaf.com/read/vwyvykhjhzmx" TargetMode="External"/><Relationship Id="rId2" Type="http://schemas.openxmlformats.org/officeDocument/2006/relationships/hyperlink" Target="https://www.overleaf.com/read/xtwzcxqbgyyj" TargetMode="Externa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scholar.google.com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C2B90E-66AA-D82E-BBBA-899E6F8E34E3}"/>
              </a:ext>
            </a:extLst>
          </p:cNvPr>
          <p:cNvSpPr txBox="1"/>
          <p:nvPr/>
        </p:nvSpPr>
        <p:spPr>
          <a:xfrm>
            <a:off x="3200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635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 descr="Text&#10;&#10;Description automatically generated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12" y="317038"/>
            <a:ext cx="2576374" cy="936215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93736" y="2565127"/>
            <a:ext cx="8396691" cy="195313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200"/>
              <a:t>HƯỚNG DẪN VIẾT ĐỒ ÁN BẰNG LATEX</a:t>
            </a:r>
            <a:endParaRPr lang="en-US" sz="4600"/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4135700"/>
            <a:ext cx="7619943" cy="237106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sz="2800" b="0"/>
          </a:p>
          <a:p>
            <a:pPr algn="ctr"/>
            <a:r>
              <a:rPr lang="en-US" sz="2800"/>
              <a:t>                    TS. Trần Hải Anh</a:t>
            </a:r>
          </a:p>
          <a:p>
            <a:pPr algn="ctr"/>
            <a:r>
              <a:rPr lang="en-US" sz="2800"/>
              <a:t>                          TS. Trịnh Văn Chiến</a:t>
            </a:r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 sánh Microsoft Word và LaTeX</a:t>
            </a:r>
          </a:p>
          <a:p>
            <a:pPr marL="514350" indent="-514350">
              <a:buFont typeface="+mj-lt"/>
              <a:buAutoNum type="arabi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Cách thức sử dụng Overleaf</a:t>
            </a:r>
          </a:p>
          <a:p>
            <a:pPr marL="514350" indent="-514350">
              <a:buFont typeface="+mj-lt"/>
              <a:buAutoNum type="arabi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Chuẩn bị trang bìa</a:t>
            </a:r>
          </a:p>
          <a:p>
            <a:pPr marL="514350" indent="-514350">
              <a:buFont typeface="+mj-lt"/>
              <a:buAutoNum type="arabi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Viết nội dung từng chương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Cách tạo và viết nội dung một chương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Cách chèn ảnh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Cách tạo bảng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Cách viết phương trình, công thức toán học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Cách đánh dấu và đánh số </a:t>
            </a:r>
          </a:p>
          <a:p>
            <a:pPr marL="514350" indent="-514350">
              <a:buFont typeface="+mj-lt"/>
              <a:buAutoNum type="arabi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Hướng dẫn làm và tham chiếu đến tài liệu tham khảo</a:t>
            </a:r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79375"/>
            <a:ext cx="8674100" cy="450850"/>
          </a:xfrm>
          <a:prstGeom prst="rect">
            <a:avLst/>
          </a:prstGeom>
        </p:spPr>
        <p:txBody>
          <a:bodyPr/>
          <a:lstStyle/>
          <a:p>
            <a:r>
              <a:rPr lang="en-US" b="1">
                <a:solidFill>
                  <a:schemeClr val="bg1"/>
                </a:solidFill>
                <a:latin typeface="Linh AvantGarde" panose="02000603030000020004" pitchFamily="2" charset="0"/>
                <a:ea typeface="+mn-ea"/>
                <a:cs typeface="+mn-cs"/>
              </a:rPr>
              <a:t>1. So </a:t>
            </a:r>
            <a:r>
              <a:rPr lang="en-US" b="1" err="1">
                <a:solidFill>
                  <a:schemeClr val="bg1"/>
                </a:solidFill>
                <a:latin typeface="Linh AvantGarde" panose="02000603030000020004" pitchFamily="2" charset="0"/>
                <a:ea typeface="+mn-ea"/>
                <a:cs typeface="+mn-cs"/>
              </a:rPr>
              <a:t>sánh</a:t>
            </a:r>
            <a:r>
              <a:rPr lang="en-US" b="1">
                <a:solidFill>
                  <a:schemeClr val="bg1"/>
                </a:solidFill>
                <a:latin typeface="Linh AvantGarde" panose="02000603030000020004" pitchFamily="2" charset="0"/>
                <a:ea typeface="+mn-ea"/>
                <a:cs typeface="+mn-cs"/>
              </a:rPr>
              <a:t> MS Word </a:t>
            </a:r>
            <a:r>
              <a:rPr lang="en-US" b="1" err="1">
                <a:solidFill>
                  <a:schemeClr val="bg1"/>
                </a:solidFill>
                <a:latin typeface="Linh AvantGarde" panose="02000603030000020004" pitchFamily="2" charset="0"/>
                <a:ea typeface="+mn-ea"/>
                <a:cs typeface="+mn-cs"/>
              </a:rPr>
              <a:t>và</a:t>
            </a:r>
            <a:r>
              <a:rPr lang="en-US" b="1">
                <a:solidFill>
                  <a:schemeClr val="bg1"/>
                </a:solidFill>
                <a:latin typeface="Linh AvantGarde" panose="02000603030000020004" pitchFamily="2" charset="0"/>
                <a:ea typeface="+mn-ea"/>
                <a:cs typeface="+mn-cs"/>
              </a:rPr>
              <a:t> LaTeX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695857-1256-7F4F-819D-48BE40FED0F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86600" y="6572250"/>
            <a:ext cx="2057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F88B7E-86B8-4862-842E-2DB840C1EC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400C08-2483-D5C0-0146-90A4D2752085}"/>
              </a:ext>
            </a:extLst>
          </p:cNvPr>
          <p:cNvSpPr txBox="1"/>
          <p:nvPr/>
        </p:nvSpPr>
        <p:spPr>
          <a:xfrm>
            <a:off x="641480" y="2781796"/>
            <a:ext cx="7473820" cy="894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lang="en-US" sz="40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 So sánh MS Word và LaTeX</a:t>
            </a:r>
          </a:p>
        </p:txBody>
      </p:sp>
    </p:spTree>
    <p:extLst>
      <p:ext uri="{BB962C8B-B14F-4D97-AF65-F5344CB8AC3E}">
        <p14:creationId xmlns:p14="http://schemas.microsoft.com/office/powerpoint/2010/main" val="1754536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323C9A-628B-C3B9-298A-449680213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88B7E-86B8-4862-842E-2DB840C1EC76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FE8ADD0-DCFD-4F42-2066-45442EF0B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D18E2-F0FA-4663-016C-56E680C1370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err="1"/>
              <a:t>Chuẩn</a:t>
            </a:r>
            <a:r>
              <a:rPr lang="en-US"/>
              <a:t> </a:t>
            </a:r>
            <a:r>
              <a:rPr lang="en-US" err="1"/>
              <a:t>hóa</a:t>
            </a:r>
            <a:r>
              <a:rPr lang="en-US"/>
              <a:t> </a:t>
            </a:r>
            <a:r>
              <a:rPr lang="en-US" err="1"/>
              <a:t>hình</a:t>
            </a:r>
            <a:r>
              <a:rPr lang="en-US"/>
              <a:t> </a:t>
            </a:r>
            <a:r>
              <a:rPr lang="en-US" err="1"/>
              <a:t>thức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nội</a:t>
            </a:r>
            <a:r>
              <a:rPr lang="en-US"/>
              <a:t> dung </a:t>
            </a:r>
            <a:r>
              <a:rPr lang="en-US" err="1"/>
              <a:t>quyển</a:t>
            </a:r>
            <a:r>
              <a:rPr lang="en-US"/>
              <a:t> </a:t>
            </a:r>
            <a:r>
              <a:rPr lang="en-US" err="1"/>
              <a:t>đồ</a:t>
            </a:r>
            <a:r>
              <a:rPr lang="en-US"/>
              <a:t> </a:t>
            </a:r>
            <a:r>
              <a:rPr lang="en-US" err="1"/>
              <a:t>án</a:t>
            </a:r>
            <a:r>
              <a:rPr lang="en-US"/>
              <a:t>:</a:t>
            </a:r>
          </a:p>
          <a:p>
            <a:pPr lvl="1">
              <a:lnSpc>
                <a:spcPct val="100000"/>
              </a:lnSpc>
            </a:pPr>
            <a:r>
              <a:rPr lang="en-US" err="1"/>
              <a:t>Thống</a:t>
            </a:r>
            <a:r>
              <a:rPr lang="en-US"/>
              <a:t> </a:t>
            </a:r>
            <a:r>
              <a:rPr lang="en-US" err="1"/>
              <a:t>nhất</a:t>
            </a:r>
            <a:r>
              <a:rPr lang="en-US"/>
              <a:t> </a:t>
            </a:r>
            <a:r>
              <a:rPr lang="en-US" err="1"/>
              <a:t>mẫu</a:t>
            </a:r>
            <a:r>
              <a:rPr lang="en-US"/>
              <a:t> </a:t>
            </a:r>
            <a:r>
              <a:rPr lang="en-US" err="1"/>
              <a:t>chuẩn</a:t>
            </a:r>
            <a:r>
              <a:rPr lang="en-US"/>
              <a:t> (template) </a:t>
            </a:r>
            <a:r>
              <a:rPr lang="en-US" err="1"/>
              <a:t>theo</a:t>
            </a:r>
            <a:r>
              <a:rPr lang="en-US"/>
              <a:t> 2 </a:t>
            </a:r>
            <a:r>
              <a:rPr lang="en-US" err="1"/>
              <a:t>định</a:t>
            </a:r>
            <a:r>
              <a:rPr lang="en-US"/>
              <a:t> </a:t>
            </a:r>
            <a:r>
              <a:rPr lang="en-US" err="1"/>
              <a:t>hướng</a:t>
            </a:r>
            <a:r>
              <a:rPr lang="en-US"/>
              <a:t>: </a:t>
            </a:r>
          </a:p>
          <a:p>
            <a:pPr lvl="2">
              <a:lnSpc>
                <a:spcPct val="100000"/>
              </a:lnSpc>
            </a:pPr>
            <a:r>
              <a:rPr lang="en-US" err="1"/>
              <a:t>Nghiên</a:t>
            </a:r>
            <a:r>
              <a:rPr lang="en-US"/>
              <a:t> </a:t>
            </a:r>
            <a:r>
              <a:rPr lang="en-US" err="1"/>
              <a:t>cứu</a:t>
            </a:r>
            <a:r>
              <a:rPr lang="en-US"/>
              <a:t>, </a:t>
            </a:r>
            <a:r>
              <a:rPr lang="en-US" err="1"/>
              <a:t>và</a:t>
            </a:r>
            <a:endParaRPr lang="en-US"/>
          </a:p>
          <a:p>
            <a:pPr lvl="2">
              <a:lnSpc>
                <a:spcPct val="100000"/>
              </a:lnSpc>
            </a:pPr>
            <a:r>
              <a:rPr lang="en-US" err="1"/>
              <a:t>Ứng</a:t>
            </a:r>
            <a:r>
              <a:rPr lang="en-US"/>
              <a:t> </a:t>
            </a:r>
            <a:r>
              <a:rPr lang="en-US" err="1"/>
              <a:t>dụng</a:t>
            </a:r>
            <a:r>
              <a:rPr lang="en-US"/>
              <a:t>.</a:t>
            </a:r>
          </a:p>
          <a:p>
            <a:pPr lvl="1">
              <a:lnSpc>
                <a:spcPct val="100000"/>
              </a:lnSpc>
            </a:pPr>
            <a:r>
              <a:rPr lang="en-US"/>
              <a:t> </a:t>
            </a:r>
            <a:r>
              <a:rPr lang="en-US" err="1"/>
              <a:t>Thống</a:t>
            </a:r>
            <a:r>
              <a:rPr lang="en-US"/>
              <a:t> </a:t>
            </a:r>
            <a:r>
              <a:rPr lang="en-US" err="1"/>
              <a:t>nhất</a:t>
            </a:r>
            <a:r>
              <a:rPr lang="en-US"/>
              <a:t> </a:t>
            </a:r>
            <a:r>
              <a:rPr lang="en-US" err="1"/>
              <a:t>soạn</a:t>
            </a:r>
            <a:r>
              <a:rPr lang="en-US"/>
              <a:t> </a:t>
            </a:r>
            <a:r>
              <a:rPr lang="en-US" err="1"/>
              <a:t>thảo</a:t>
            </a:r>
            <a:r>
              <a:rPr lang="en-US"/>
              <a:t> </a:t>
            </a:r>
            <a:r>
              <a:rPr lang="en-US" err="1"/>
              <a:t>quyển</a:t>
            </a:r>
            <a:r>
              <a:rPr lang="en-US"/>
              <a:t> </a:t>
            </a:r>
            <a:r>
              <a:rPr lang="en-US" err="1"/>
              <a:t>đồ</a:t>
            </a:r>
            <a:r>
              <a:rPr lang="en-US"/>
              <a:t> </a:t>
            </a:r>
            <a:r>
              <a:rPr lang="en-US" err="1"/>
              <a:t>án</a:t>
            </a:r>
            <a:r>
              <a:rPr lang="en-US"/>
              <a:t> </a:t>
            </a:r>
            <a:r>
              <a:rPr lang="en-US" err="1"/>
              <a:t>sử</a:t>
            </a:r>
            <a:r>
              <a:rPr lang="en-US"/>
              <a:t> </a:t>
            </a:r>
            <a:r>
              <a:rPr lang="en-US" err="1"/>
              <a:t>dụng</a:t>
            </a:r>
            <a:r>
              <a:rPr lang="en-US"/>
              <a:t> Latex.</a:t>
            </a:r>
          </a:p>
          <a:p>
            <a:pPr lvl="2">
              <a:lnSpc>
                <a:spcPct val="150000"/>
              </a:lnSpc>
            </a:pPr>
            <a:r>
              <a:rPr lang="en-US" err="1"/>
              <a:t>Nhằm</a:t>
            </a:r>
            <a:r>
              <a:rPr lang="en-US"/>
              <a:t> </a:t>
            </a:r>
            <a:r>
              <a:rPr lang="en-US" err="1"/>
              <a:t>giải</a:t>
            </a:r>
            <a:r>
              <a:rPr lang="en-US"/>
              <a:t> </a:t>
            </a:r>
            <a:r>
              <a:rPr lang="en-US" err="1"/>
              <a:t>quyết</a:t>
            </a:r>
            <a:r>
              <a:rPr lang="en-US"/>
              <a:t> </a:t>
            </a:r>
            <a:r>
              <a:rPr lang="en-US" err="1"/>
              <a:t>các</a:t>
            </a:r>
            <a:r>
              <a:rPr lang="en-US"/>
              <a:t> </a:t>
            </a:r>
            <a:r>
              <a:rPr lang="en-US" err="1"/>
              <a:t>vấn</a:t>
            </a:r>
            <a:r>
              <a:rPr lang="en-US"/>
              <a:t> </a:t>
            </a:r>
            <a:r>
              <a:rPr lang="en-US" err="1"/>
              <a:t>đề</a:t>
            </a:r>
            <a:r>
              <a:rPr lang="en-US"/>
              <a:t> </a:t>
            </a:r>
            <a:r>
              <a:rPr lang="en-US" err="1"/>
              <a:t>chuẩn</a:t>
            </a:r>
            <a:r>
              <a:rPr lang="en-US"/>
              <a:t> </a:t>
            </a:r>
            <a:r>
              <a:rPr lang="en-US" err="1"/>
              <a:t>hóa</a:t>
            </a:r>
            <a:r>
              <a:rPr lang="en-US"/>
              <a:t> </a:t>
            </a:r>
            <a:r>
              <a:rPr lang="en-US" err="1"/>
              <a:t>của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báo</a:t>
            </a:r>
            <a:r>
              <a:rPr lang="en-US"/>
              <a:t> </a:t>
            </a:r>
            <a:r>
              <a:rPr lang="en-US" err="1"/>
              <a:t>cáo</a:t>
            </a:r>
            <a:r>
              <a:rPr lang="en-US"/>
              <a:t> khoa </a:t>
            </a:r>
            <a:r>
              <a:rPr lang="en-US" err="1"/>
              <a:t>học</a:t>
            </a:r>
            <a:r>
              <a:rPr lang="en-US"/>
              <a:t>: </a:t>
            </a:r>
          </a:p>
          <a:p>
            <a:pPr lvl="3">
              <a:lnSpc>
                <a:spcPct val="150000"/>
              </a:lnSpc>
            </a:pPr>
            <a:r>
              <a:rPr lang="en-US" err="1"/>
              <a:t>Khuôn</a:t>
            </a:r>
            <a:r>
              <a:rPr lang="en-US"/>
              <a:t> </a:t>
            </a:r>
            <a:r>
              <a:rPr lang="en-US" err="1"/>
              <a:t>dạng</a:t>
            </a:r>
            <a:r>
              <a:rPr lang="en-US"/>
              <a:t>, </a:t>
            </a:r>
            <a:r>
              <a:rPr lang="en-US" err="1"/>
              <a:t>hình</a:t>
            </a:r>
            <a:r>
              <a:rPr lang="en-US"/>
              <a:t> </a:t>
            </a:r>
            <a:r>
              <a:rPr lang="en-US" err="1"/>
              <a:t>thức</a:t>
            </a:r>
            <a:r>
              <a:rPr lang="en-US"/>
              <a:t>;</a:t>
            </a:r>
          </a:p>
          <a:p>
            <a:pPr lvl="3">
              <a:lnSpc>
                <a:spcPct val="150000"/>
              </a:lnSpc>
            </a:pPr>
            <a:r>
              <a:rPr lang="en-US" err="1"/>
              <a:t>Trích</a:t>
            </a:r>
            <a:r>
              <a:rPr lang="en-US"/>
              <a:t> </a:t>
            </a:r>
            <a:r>
              <a:rPr lang="en-US" err="1"/>
              <a:t>dẫn</a:t>
            </a:r>
            <a:r>
              <a:rPr lang="en-US"/>
              <a:t> khoa </a:t>
            </a:r>
            <a:r>
              <a:rPr lang="en-US" err="1"/>
              <a:t>học</a:t>
            </a:r>
            <a:r>
              <a:rPr lang="en-US"/>
              <a:t>.</a:t>
            </a:r>
          </a:p>
          <a:p>
            <a:pPr lvl="2">
              <a:lnSpc>
                <a:spcPct val="150000"/>
              </a:lnSpc>
            </a:pPr>
            <a:r>
              <a:rPr lang="en-US"/>
              <a:t>Latex </a:t>
            </a:r>
            <a:r>
              <a:rPr lang="en-US" err="1"/>
              <a:t>hiện</a:t>
            </a:r>
            <a:r>
              <a:rPr lang="en-US"/>
              <a:t> </a:t>
            </a:r>
            <a:r>
              <a:rPr lang="en-US" err="1"/>
              <a:t>tại</a:t>
            </a:r>
            <a:r>
              <a:rPr lang="en-US"/>
              <a:t> </a:t>
            </a:r>
            <a:r>
              <a:rPr lang="en-US" err="1"/>
              <a:t>rất</a:t>
            </a:r>
            <a:r>
              <a:rPr lang="en-US"/>
              <a:t> </a:t>
            </a:r>
            <a:r>
              <a:rPr lang="en-US" err="1"/>
              <a:t>dễ</a:t>
            </a:r>
            <a:r>
              <a:rPr lang="en-US"/>
              <a:t> </a:t>
            </a:r>
            <a:r>
              <a:rPr lang="en-US" err="1"/>
              <a:t>sử</a:t>
            </a:r>
            <a:r>
              <a:rPr lang="en-US"/>
              <a:t> </a:t>
            </a:r>
            <a:r>
              <a:rPr lang="en-US" err="1"/>
              <a:t>dụng</a:t>
            </a:r>
            <a:r>
              <a:rPr lang="en-US"/>
              <a:t> </a:t>
            </a:r>
            <a:r>
              <a:rPr lang="en-US" err="1"/>
              <a:t>thông</a:t>
            </a:r>
            <a:r>
              <a:rPr lang="en-US"/>
              <a:t> qua:</a:t>
            </a:r>
          </a:p>
          <a:p>
            <a:pPr lvl="3">
              <a:lnSpc>
                <a:spcPct val="150000"/>
              </a:lnSpc>
            </a:pPr>
            <a:r>
              <a:rPr lang="en-US"/>
              <a:t>Công </a:t>
            </a:r>
            <a:r>
              <a:rPr lang="en-US" err="1"/>
              <a:t>cụ</a:t>
            </a:r>
            <a:r>
              <a:rPr lang="en-US"/>
              <a:t> </a:t>
            </a:r>
            <a:r>
              <a:rPr lang="en-US" err="1"/>
              <a:t>trực</a:t>
            </a:r>
            <a:r>
              <a:rPr lang="en-US"/>
              <a:t> </a:t>
            </a:r>
            <a:r>
              <a:rPr lang="en-US" err="1"/>
              <a:t>tuyến</a:t>
            </a:r>
            <a:r>
              <a:rPr lang="en-US"/>
              <a:t> Overleaf; </a:t>
            </a:r>
            <a:r>
              <a:rPr lang="en-US" err="1"/>
              <a:t>và</a:t>
            </a:r>
            <a:endParaRPr lang="en-US"/>
          </a:p>
          <a:p>
            <a:pPr lvl="3">
              <a:lnSpc>
                <a:spcPct val="150000"/>
              </a:lnSpc>
            </a:pPr>
            <a:r>
              <a:rPr lang="en-US" err="1"/>
              <a:t>Sự</a:t>
            </a:r>
            <a:r>
              <a:rPr lang="en-US"/>
              <a:t> </a:t>
            </a:r>
            <a:r>
              <a:rPr lang="en-US" err="1"/>
              <a:t>tận</a:t>
            </a:r>
            <a:r>
              <a:rPr lang="en-US"/>
              <a:t> </a:t>
            </a:r>
            <a:r>
              <a:rPr lang="en-US" err="1"/>
              <a:t>tâm</a:t>
            </a:r>
            <a:r>
              <a:rPr lang="en-US"/>
              <a:t> </a:t>
            </a:r>
            <a:r>
              <a:rPr lang="en-US" err="1"/>
              <a:t>của</a:t>
            </a:r>
            <a:r>
              <a:rPr lang="en-US"/>
              <a:t> </a:t>
            </a:r>
            <a:r>
              <a:rPr lang="en-US" err="1"/>
              <a:t>các</a:t>
            </a:r>
            <a:r>
              <a:rPr lang="en-US"/>
              <a:t> </a:t>
            </a:r>
            <a:r>
              <a:rPr lang="en-US" err="1"/>
              <a:t>thầy</a:t>
            </a:r>
            <a:r>
              <a:rPr lang="en-US"/>
              <a:t> </a:t>
            </a:r>
            <a:r>
              <a:rPr lang="en-US" err="1"/>
              <a:t>cô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các</a:t>
            </a:r>
            <a:r>
              <a:rPr lang="en-US"/>
              <a:t> </a:t>
            </a:r>
            <a:r>
              <a:rPr lang="en-US" err="1"/>
              <a:t>bạn</a:t>
            </a:r>
            <a:r>
              <a:rPr lang="en-US"/>
              <a:t> </a:t>
            </a:r>
            <a:r>
              <a:rPr lang="en-US" err="1"/>
              <a:t>sinh</a:t>
            </a:r>
            <a:r>
              <a:rPr lang="en-US"/>
              <a:t> </a:t>
            </a:r>
            <a:r>
              <a:rPr lang="en-US" err="1"/>
              <a:t>viên</a:t>
            </a:r>
            <a:r>
              <a:rPr lang="en-US"/>
              <a:t> </a:t>
            </a:r>
            <a:r>
              <a:rPr lang="en-US" err="1"/>
              <a:t>trong</a:t>
            </a:r>
            <a:r>
              <a:rPr lang="en-US"/>
              <a:t> </a:t>
            </a:r>
            <a:r>
              <a:rPr lang="en-US" err="1"/>
              <a:t>tư</a:t>
            </a:r>
            <a:r>
              <a:rPr lang="en-US"/>
              <a:t> </a:t>
            </a:r>
            <a:r>
              <a:rPr lang="en-US" err="1"/>
              <a:t>vấn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hỗ</a:t>
            </a:r>
            <a:r>
              <a:rPr lang="en-US"/>
              <a:t> </a:t>
            </a:r>
            <a:r>
              <a:rPr lang="en-US" err="1"/>
              <a:t>trợ</a:t>
            </a:r>
            <a:r>
              <a:rPr lang="en-US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0228F1-EF8D-8526-563F-4C78E1F39B50}"/>
              </a:ext>
            </a:extLst>
          </p:cNvPr>
          <p:cNvSpPr txBox="1"/>
          <p:nvPr/>
        </p:nvSpPr>
        <p:spPr>
          <a:xfrm>
            <a:off x="3984821" y="3778383"/>
            <a:ext cx="59157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LATEX </a:t>
            </a:r>
            <a:r>
              <a:rPr lang="en-US" sz="2800" b="1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KHÔNG</a:t>
            </a:r>
            <a:r>
              <a:rPr lang="en-US" sz="28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KHÓ</a:t>
            </a:r>
            <a:r>
              <a:rPr lang="en-US" sz="28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!!!</a:t>
            </a:r>
            <a:endParaRPr lang="en-US" b="1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43317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676C4-FAEA-0E44-9FDE-66C9ACD1B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88B7E-86B8-4862-842E-2DB840C1EC76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Microsoft Word </a:t>
            </a:r>
            <a:r>
              <a:rPr lang="en-US" err="1"/>
              <a:t>và</a:t>
            </a:r>
            <a:r>
              <a:rPr lang="en-US"/>
              <a:t> LaTeX (1)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FED75A-1C78-A153-C1F4-3FC2D25B7B4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6A54E85-9178-4F79-AAC6-2D92C49669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907264"/>
              </p:ext>
            </p:extLst>
          </p:nvPr>
        </p:nvGraphicFramePr>
        <p:xfrm>
          <a:off x="111577" y="841248"/>
          <a:ext cx="8813206" cy="5303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6603">
                  <a:extLst>
                    <a:ext uri="{9D8B030D-6E8A-4147-A177-3AD203B41FA5}">
                      <a16:colId xmlns:a16="http://schemas.microsoft.com/office/drawing/2014/main" val="1316920975"/>
                    </a:ext>
                  </a:extLst>
                </a:gridCol>
                <a:gridCol w="4406603">
                  <a:extLst>
                    <a:ext uri="{9D8B030D-6E8A-4147-A177-3AD203B41FA5}">
                      <a16:colId xmlns:a16="http://schemas.microsoft.com/office/drawing/2014/main" val="3756254812"/>
                    </a:ext>
                  </a:extLst>
                </a:gridCol>
              </a:tblGrid>
              <a:tr h="58714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MS 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LaTeX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7338821"/>
                  </a:ext>
                </a:extLst>
              </a:tr>
              <a:tr h="702420"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latin typeface="+mn-lt"/>
                          <a:cs typeface="Arial" panose="020B0604020202020204" pitchFamily="34" charset="0"/>
                        </a:rPr>
                        <a:t>Hầu</a:t>
                      </a:r>
                      <a:r>
                        <a:rPr lang="en-US"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err="1">
                          <a:latin typeface="+mn-lt"/>
                          <a:cs typeface="Arial" panose="020B0604020202020204" pitchFamily="34" charset="0"/>
                        </a:rPr>
                        <a:t>hết</a:t>
                      </a:r>
                      <a:r>
                        <a:rPr lang="en-US"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err="1">
                          <a:latin typeface="+mn-lt"/>
                          <a:cs typeface="Arial" panose="020B0604020202020204" pitchFamily="34" charset="0"/>
                        </a:rPr>
                        <a:t>cần</a:t>
                      </a:r>
                      <a:r>
                        <a:rPr lang="en-US">
                          <a:latin typeface="+mn-lt"/>
                          <a:cs typeface="Arial" panose="020B0604020202020204" pitchFamily="34" charset="0"/>
                        </a:rPr>
                        <a:t> đ</a:t>
                      </a:r>
                      <a:r>
                        <a:rPr lang="vi-VN">
                          <a:latin typeface="+mn-lt"/>
                          <a:cs typeface="Arial" panose="020B0604020202020204" pitchFamily="34" charset="0"/>
                        </a:rPr>
                        <a:t>ịnh dạng thủ công</a:t>
                      </a:r>
                      <a:r>
                        <a:rPr lang="en-US"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err="1">
                          <a:latin typeface="+mn-lt"/>
                          <a:cs typeface="Arial" panose="020B0604020202020204" pitchFamily="34" charset="0"/>
                        </a:rPr>
                        <a:t>cho</a:t>
                      </a:r>
                      <a:r>
                        <a:rPr lang="en-US"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>
                          <a:latin typeface="+mn-lt"/>
                          <a:cs typeface="Arial" panose="020B0604020202020204" pitchFamily="34" charset="0"/>
                        </a:rPr>
                        <a:t>từng phần văn</a:t>
                      </a:r>
                      <a:r>
                        <a:rPr lang="en-US"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>
                          <a:latin typeface="+mn-lt"/>
                          <a:cs typeface="Arial" panose="020B0604020202020204" pitchFamily="34" charset="0"/>
                        </a:rPr>
                        <a:t>bản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>
                          <a:latin typeface="+mn-lt"/>
                          <a:cs typeface="Arial" panose="020B0604020202020204" pitchFamily="34" charset="0"/>
                        </a:rPr>
                        <a:t>Nội dung được biên tập tự động theo</a:t>
                      </a:r>
                    </a:p>
                    <a:p>
                      <a:pPr algn="ctr"/>
                      <a:r>
                        <a:rPr lang="vi-VN">
                          <a:latin typeface="+mn-lt"/>
                          <a:cs typeface="Arial" panose="020B0604020202020204" pitchFamily="34" charset="0"/>
                        </a:rPr>
                        <a:t>cấu trúc được khai báo trước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9685508"/>
                  </a:ext>
                </a:extLst>
              </a:tr>
              <a:tr h="1003456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lt"/>
                          <a:cs typeface="Arial" panose="020B0604020202020204" pitchFamily="34" charset="0"/>
                        </a:rPr>
                        <a:t>Đ</a:t>
                      </a:r>
                      <a:r>
                        <a:rPr lang="vi-VN">
                          <a:latin typeface="+mn-lt"/>
                          <a:cs typeface="Arial" panose="020B0604020202020204" pitchFamily="34" charset="0"/>
                        </a:rPr>
                        <a:t>ịnh dạng heading, môi trường</a:t>
                      </a:r>
                    </a:p>
                    <a:p>
                      <a:pPr algn="ctr"/>
                      <a:r>
                        <a:rPr lang="vi-VN">
                          <a:latin typeface="+mn-lt"/>
                          <a:cs typeface="Arial" panose="020B0604020202020204" pitchFamily="34" charset="0"/>
                        </a:rPr>
                        <a:t>danh sách, đánh số, tạo mục lục</a:t>
                      </a:r>
                    </a:p>
                    <a:p>
                      <a:pPr algn="ctr"/>
                      <a:r>
                        <a:rPr lang="vi-VN">
                          <a:latin typeface="+mn-lt"/>
                          <a:cs typeface="Arial" panose="020B0604020202020204" pitchFamily="34" charset="0"/>
                        </a:rPr>
                        <a:t>tự động mất nhiều thời gian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lt"/>
                          <a:cs typeface="Arial" panose="020B0604020202020204" pitchFamily="34" charset="0"/>
                        </a:rPr>
                        <a:t>S</a:t>
                      </a:r>
                      <a:r>
                        <a:rPr lang="vi-VN">
                          <a:latin typeface="+mn-lt"/>
                          <a:cs typeface="Arial" panose="020B0604020202020204" pitchFamily="34" charset="0"/>
                        </a:rPr>
                        <a:t>ử dụng 1 khai báo chuẩn</a:t>
                      </a:r>
                      <a:r>
                        <a:rPr lang="en-US"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err="1">
                          <a:latin typeface="+mn-lt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>
                          <a:latin typeface="+mn-lt"/>
                          <a:cs typeface="Arial" panose="020B0604020202020204" pitchFamily="34" charset="0"/>
                        </a:rPr>
                        <a:t>sử dụng được cho nhiều file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7081161"/>
                  </a:ext>
                </a:extLst>
              </a:tr>
              <a:tr h="1003456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Chia </a:t>
                      </a:r>
                      <a:r>
                        <a:rPr lang="en-US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sẻ</a:t>
                      </a: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dữ</a:t>
                      </a: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liệu</a:t>
                      </a: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giữa</a:t>
                      </a: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các</a:t>
                      </a: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máy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tính</a:t>
                      </a: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các</a:t>
                      </a: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phiên</a:t>
                      </a: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bản</a:t>
                      </a: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khác</a:t>
                      </a: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nhau</a:t>
                      </a: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không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ổn</a:t>
                      </a: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định</a:t>
                      </a: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ví</a:t>
                      </a: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dụ</a:t>
                      </a: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lỗi</a:t>
                      </a: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font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>
                          <a:latin typeface="+mn-lt"/>
                          <a:cs typeface="Arial" panose="020B0604020202020204" pitchFamily="34" charset="0"/>
                        </a:rPr>
                        <a:t>Dữ liệu được lưu dạng text nên có</a:t>
                      </a:r>
                    </a:p>
                    <a:p>
                      <a:pPr algn="ctr"/>
                      <a:r>
                        <a:rPr lang="vi-VN">
                          <a:latin typeface="+mn-lt"/>
                          <a:cs typeface="Arial" panose="020B0604020202020204" pitchFamily="34" charset="0"/>
                        </a:rPr>
                        <a:t>thể chia sẽ dễ dàng, không </a:t>
                      </a:r>
                      <a:r>
                        <a:rPr lang="en-US" err="1">
                          <a:latin typeface="+mn-lt"/>
                          <a:cs typeface="Arial" panose="020B0604020202020204" pitchFamily="34" charset="0"/>
                        </a:rPr>
                        <a:t>thay</a:t>
                      </a:r>
                      <a:r>
                        <a:rPr lang="en-US"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err="1">
                          <a:latin typeface="+mn-lt"/>
                          <a:cs typeface="Arial" panose="020B0604020202020204" pitchFamily="34" charset="0"/>
                        </a:rPr>
                        <a:t>đổi</a:t>
                      </a:r>
                      <a:endParaRPr lang="vi-VN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vi-VN">
                          <a:latin typeface="+mn-lt"/>
                          <a:cs typeface="Arial" panose="020B0604020202020204" pitchFamily="34" charset="0"/>
                        </a:rPr>
                        <a:t>định dạng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1713472"/>
                  </a:ext>
                </a:extLst>
              </a:tr>
              <a:tr h="702420"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Gặp</a:t>
                      </a: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lỗi</a:t>
                      </a: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trình</a:t>
                      </a: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bày</a:t>
                      </a: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</a:t>
                      </a:r>
                      <a:r>
                        <a:rPr lang="vi-V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ư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các</a:t>
                      </a: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khoảng</a:t>
                      </a: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trắng</a:t>
                      </a: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LaTeX </a:t>
                      </a:r>
                      <a:r>
                        <a:rPr lang="en-US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tự</a:t>
                      </a: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động</a:t>
                      </a: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căn</a:t>
                      </a: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chỉnh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0626240"/>
                  </a:ext>
                </a:extLst>
              </a:tr>
              <a:tr h="1304493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Đ</a:t>
                      </a:r>
                      <a:r>
                        <a:rPr lang="vi-VN"/>
                        <a:t>ánh số và tham chiếu công</a:t>
                      </a:r>
                      <a:br>
                        <a:rPr lang="vi-VN"/>
                      </a:br>
                      <a:r>
                        <a:rPr lang="vi-VN"/>
                        <a:t>thức, hình ảnh, bảng biểu, </a:t>
                      </a:r>
                      <a:br>
                        <a:rPr lang="vi-VN"/>
                      </a:br>
                      <a:r>
                        <a:rPr lang="vi-VN"/>
                        <a:t>ví dụ, định lý</a:t>
                      </a:r>
                      <a:r>
                        <a:rPr lang="en-US"/>
                        <a:t>, </a:t>
                      </a:r>
                      <a:r>
                        <a:rPr lang="vi-VN"/>
                        <a:t>chương mục,</a:t>
                      </a:r>
                      <a:r>
                        <a:rPr lang="en-US"/>
                        <a:t> </a:t>
                      </a:r>
                      <a:r>
                        <a:rPr lang="vi-VN"/>
                        <a:t>tự</a:t>
                      </a:r>
                      <a:br>
                        <a:rPr lang="vi-VN"/>
                      </a:br>
                      <a:r>
                        <a:rPr lang="vi-VN"/>
                        <a:t>động khó thực hiện và quản lý</a:t>
                      </a:r>
                      <a:r>
                        <a:rPr lang="en-US"/>
                        <a:t> 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>
                          <a:latin typeface="+mn-lt"/>
                          <a:cs typeface="Arial" panose="020B0604020202020204" pitchFamily="34" charset="0"/>
                        </a:rPr>
                        <a:t>Các công thức, hình ảnh, bảng biểu,</a:t>
                      </a:r>
                    </a:p>
                    <a:p>
                      <a:pPr algn="ctr"/>
                      <a:r>
                        <a:rPr lang="vi-VN">
                          <a:latin typeface="+mn-lt"/>
                          <a:cs typeface="Arial" panose="020B0604020202020204" pitchFamily="34" charset="0"/>
                        </a:rPr>
                        <a:t>môi trường ví dụ, định lý,</a:t>
                      </a:r>
                      <a:r>
                        <a:rPr lang="en-US"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>
                          <a:latin typeface="+mn-lt"/>
                          <a:cs typeface="Arial" panose="020B0604020202020204" pitchFamily="34" charset="0"/>
                        </a:rPr>
                        <a:t>chương</a:t>
                      </a:r>
                    </a:p>
                    <a:p>
                      <a:pPr algn="ctr"/>
                      <a:r>
                        <a:rPr lang="en-US">
                          <a:latin typeface="+mn-lt"/>
                          <a:cs typeface="Arial" panose="020B0604020202020204" pitchFamily="34" charset="0"/>
                        </a:rPr>
                        <a:t>m</a:t>
                      </a:r>
                      <a:r>
                        <a:rPr lang="vi-VN">
                          <a:latin typeface="+mn-lt"/>
                          <a:cs typeface="Arial" panose="020B0604020202020204" pitchFamily="34" charset="0"/>
                        </a:rPr>
                        <a:t>ục</a:t>
                      </a:r>
                      <a:r>
                        <a:rPr lang="en-US">
                          <a:latin typeface="+mn-lt"/>
                          <a:cs typeface="Arial" panose="020B0604020202020204" pitchFamily="34" charset="0"/>
                        </a:rPr>
                        <a:t>,</a:t>
                      </a:r>
                      <a:r>
                        <a:rPr lang="vi-VN">
                          <a:latin typeface="+mn-lt"/>
                          <a:cs typeface="Arial" panose="020B0604020202020204" pitchFamily="34" charset="0"/>
                        </a:rPr>
                        <a:t> được tự động, có thể gán nhãn,</a:t>
                      </a:r>
                    </a:p>
                    <a:p>
                      <a:pPr algn="ctr"/>
                      <a:r>
                        <a:rPr lang="vi-VN">
                          <a:latin typeface="+mn-lt"/>
                          <a:cs typeface="Arial" panose="020B0604020202020204" pitchFamily="34" charset="0"/>
                        </a:rPr>
                        <a:t>truy xuất và quản lý dễ dàng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0447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8463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676C4-FAEA-0E44-9FDE-66C9ACD1B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88B7E-86B8-4862-842E-2DB840C1EC76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Microsoft Word </a:t>
            </a:r>
            <a:r>
              <a:rPr lang="en-US" err="1"/>
              <a:t>và</a:t>
            </a:r>
            <a:r>
              <a:rPr lang="en-US"/>
              <a:t> LaTeX (2)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6894485-EE41-E011-DBE1-700394561BF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CF59F2-6E31-43CB-B98D-C35CCE626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592" y="923772"/>
            <a:ext cx="6804880" cy="48109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A02FEA-2B30-4597-B54B-629C3937DA43}"/>
              </a:ext>
            </a:extLst>
          </p:cNvPr>
          <p:cNvSpPr txBox="1"/>
          <p:nvPr/>
        </p:nvSpPr>
        <p:spPr>
          <a:xfrm>
            <a:off x="3587889" y="5860868"/>
            <a:ext cx="5054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err="1"/>
              <a:t>Nguồn</a:t>
            </a:r>
            <a:r>
              <a:rPr lang="en-US" i="1"/>
              <a:t>: http://www.giorgiobendoni.com/latex/</a:t>
            </a:r>
          </a:p>
        </p:txBody>
      </p:sp>
    </p:spTree>
    <p:extLst>
      <p:ext uri="{BB962C8B-B14F-4D97-AF65-F5344CB8AC3E}">
        <p14:creationId xmlns:p14="http://schemas.microsoft.com/office/powerpoint/2010/main" val="406506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81134" y="2794583"/>
            <a:ext cx="8674100" cy="45085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40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2. </a:t>
            </a:r>
            <a:r>
              <a:rPr lang="en-US" sz="4000" b="1" err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Cách</a:t>
            </a:r>
            <a:r>
              <a:rPr lang="en-US" sz="40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4000" b="1" err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thức</a:t>
            </a:r>
            <a:r>
              <a:rPr lang="en-US" sz="40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4000" b="1" err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sử</a:t>
            </a:r>
            <a:r>
              <a:rPr lang="en-US" sz="40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4000" b="1" err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dụng</a:t>
            </a:r>
            <a:r>
              <a:rPr lang="en-US" sz="40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Overleaf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695857-1256-7F4F-819D-48BE40FED0F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86600" y="6572250"/>
            <a:ext cx="2057400" cy="365125"/>
          </a:xfrm>
          <a:prstGeom prst="rect">
            <a:avLst/>
          </a:prstGeom>
        </p:spPr>
        <p:txBody>
          <a:bodyPr/>
          <a:lstStyle/>
          <a:p>
            <a:fld id="{11F88B7E-86B8-4862-842E-2DB840C1EC76}" type="slidenum">
              <a:rPr lang="zh-CN" altLang="en-US" dirty="0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2240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676C4-FAEA-0E44-9FDE-66C9ACD1B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88B7E-86B8-4862-842E-2DB840C1EC76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OVERLEAF LÀ GÌ?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err="1"/>
              <a:t>Công</a:t>
            </a:r>
            <a:r>
              <a:rPr lang="en-US"/>
              <a:t> </a:t>
            </a:r>
            <a:r>
              <a:rPr lang="en-US" err="1"/>
              <a:t>cụ</a:t>
            </a:r>
            <a:r>
              <a:rPr lang="en-US"/>
              <a:t> </a:t>
            </a:r>
            <a:r>
              <a:rPr lang="en-US" err="1"/>
              <a:t>soạn</a:t>
            </a:r>
            <a:r>
              <a:rPr lang="en-US"/>
              <a:t> </a:t>
            </a:r>
            <a:r>
              <a:rPr lang="en-US" err="1"/>
              <a:t>thảo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biên</a:t>
            </a:r>
            <a:r>
              <a:rPr lang="en-US"/>
              <a:t> </a:t>
            </a:r>
            <a:r>
              <a:rPr lang="en-US" err="1"/>
              <a:t>dịch</a:t>
            </a:r>
            <a:r>
              <a:rPr lang="en-US"/>
              <a:t> latex online</a:t>
            </a:r>
          </a:p>
          <a:p>
            <a:pPr>
              <a:lnSpc>
                <a:spcPct val="150000"/>
              </a:lnSpc>
            </a:pPr>
            <a:r>
              <a:rPr lang="en-US" err="1"/>
              <a:t>Thuận</a:t>
            </a:r>
            <a:r>
              <a:rPr lang="en-US"/>
              <a:t> </a:t>
            </a:r>
            <a:r>
              <a:rPr lang="en-US" err="1"/>
              <a:t>tiện</a:t>
            </a:r>
            <a:r>
              <a:rPr lang="en-US"/>
              <a:t>:</a:t>
            </a:r>
          </a:p>
          <a:p>
            <a:pPr lvl="1">
              <a:lnSpc>
                <a:spcPct val="150000"/>
              </a:lnSpc>
            </a:pPr>
            <a:r>
              <a:rPr lang="en-US" err="1"/>
              <a:t>không</a:t>
            </a:r>
            <a:r>
              <a:rPr lang="en-US"/>
              <a:t> </a:t>
            </a:r>
            <a:r>
              <a:rPr lang="en-US" err="1"/>
              <a:t>cài</a:t>
            </a:r>
            <a:r>
              <a:rPr lang="en-US"/>
              <a:t> </a:t>
            </a:r>
            <a:r>
              <a:rPr lang="en-US" err="1"/>
              <a:t>đặt</a:t>
            </a:r>
            <a:endParaRPr lang="en-US"/>
          </a:p>
          <a:p>
            <a:pPr lvl="1">
              <a:lnSpc>
                <a:spcPct val="150000"/>
              </a:lnSpc>
            </a:pPr>
            <a:r>
              <a:rPr lang="en-US" err="1"/>
              <a:t>cộng</a:t>
            </a:r>
            <a:r>
              <a:rPr lang="en-US"/>
              <a:t> </a:t>
            </a:r>
            <a:r>
              <a:rPr lang="en-US" err="1"/>
              <a:t>tác</a:t>
            </a:r>
            <a:r>
              <a:rPr lang="en-US"/>
              <a:t> </a:t>
            </a:r>
            <a:r>
              <a:rPr lang="en-US" err="1"/>
              <a:t>thời</a:t>
            </a:r>
            <a:r>
              <a:rPr lang="en-US"/>
              <a:t> </a:t>
            </a:r>
            <a:r>
              <a:rPr lang="en-US" err="1"/>
              <a:t>gian</a:t>
            </a:r>
            <a:r>
              <a:rPr lang="en-US"/>
              <a:t> </a:t>
            </a:r>
            <a:r>
              <a:rPr lang="en-US" err="1"/>
              <a:t>thực</a:t>
            </a:r>
            <a:endParaRPr lang="en-US"/>
          </a:p>
          <a:p>
            <a:pPr lvl="1">
              <a:lnSpc>
                <a:spcPct val="150000"/>
              </a:lnSpc>
            </a:pPr>
            <a:r>
              <a:rPr lang="en-US" err="1"/>
              <a:t>rất</a:t>
            </a:r>
            <a:r>
              <a:rPr lang="en-US"/>
              <a:t> </a:t>
            </a:r>
            <a:r>
              <a:rPr lang="en-US" err="1"/>
              <a:t>nhiều</a:t>
            </a:r>
            <a:r>
              <a:rPr lang="en-US"/>
              <a:t> template </a:t>
            </a:r>
            <a:r>
              <a:rPr lang="en-US" err="1"/>
              <a:t>sẵn</a:t>
            </a:r>
            <a:endParaRPr lang="en-US"/>
          </a:p>
          <a:p>
            <a:pPr lvl="1">
              <a:lnSpc>
                <a:spcPct val="150000"/>
              </a:lnSpc>
            </a:pPr>
            <a:r>
              <a:rPr lang="en-US"/>
              <a:t>...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4800" y="5562600"/>
            <a:ext cx="6096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148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4F8BE3-5D0A-FEEC-83DB-34A2B4A60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88B7E-86B8-4862-842E-2DB840C1EC76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ADFC83-0792-EC9A-4B65-FDAFE1F2D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GIAO DIỆN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1B1AA-B3FA-B20D-B1D1-A908C460CDB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306E74-EB5E-4914-B5FC-A90666F3B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26" y="1377506"/>
            <a:ext cx="8771347" cy="459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31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13B79-2437-77F1-ADC6-0BB74F192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88B7E-86B8-4862-842E-2DB840C1EC76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053356-83CD-C598-25B7-FABE382BD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ĐĂNG KÝ VÀ ĐĂNG NHẬP</a:t>
            </a:r>
          </a:p>
        </p:txBody>
      </p:sp>
      <p:pic>
        <p:nvPicPr>
          <p:cNvPr id="7" name="Content Placeholder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B397EFA3-2DCA-EC27-CFD9-C8ED4CC5E71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6455" y="841375"/>
            <a:ext cx="2891090" cy="5303838"/>
          </a:xfrm>
        </p:spPr>
      </p:pic>
    </p:spTree>
    <p:extLst>
      <p:ext uri="{BB962C8B-B14F-4D97-AF65-F5344CB8AC3E}">
        <p14:creationId xmlns:p14="http://schemas.microsoft.com/office/powerpoint/2010/main" val="3098266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2BFC5A-5858-C5BE-E01D-AFD65448F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88B7E-86B8-4862-842E-2DB840C1EC76}" type="slidenum">
              <a:rPr lang="zh-CN" altLang="en-US" dirty="0" smtClean="0"/>
              <a:t>12</a:t>
            </a:fld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056AE4-CCCD-3D0A-3C86-AAC248A7A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COPY PROJECT TỪ TEMPLATE MẪU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0E222-603F-5C0B-1EEC-ED7F26D0B62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lIns="91440" tIns="45720" rIns="91440" bIns="45720" anchor="t"/>
          <a:lstStyle/>
          <a:p>
            <a:r>
              <a:rPr lang="en-VN">
                <a:latin typeface="Lato"/>
                <a:ea typeface="Lato"/>
                <a:cs typeface="Lato"/>
              </a:rPr>
              <a:t>Template </a:t>
            </a:r>
            <a:r>
              <a:rPr lang="en-VN" err="1">
                <a:latin typeface="Lato"/>
                <a:ea typeface="Lato"/>
                <a:cs typeface="Lato"/>
              </a:rPr>
              <a:t>nghiên</a:t>
            </a:r>
            <a:r>
              <a:rPr lang="en-VN">
                <a:latin typeface="Lato"/>
                <a:ea typeface="Lato"/>
                <a:cs typeface="Lato"/>
              </a:rPr>
              <a:t> </a:t>
            </a:r>
            <a:r>
              <a:rPr lang="en-VN" err="1">
                <a:latin typeface="Lato"/>
                <a:ea typeface="Lato"/>
                <a:cs typeface="Lato"/>
              </a:rPr>
              <a:t>cứu</a:t>
            </a:r>
            <a:r>
              <a:rPr lang="en-VN">
                <a:latin typeface="Lato"/>
                <a:ea typeface="Lato"/>
                <a:cs typeface="Lato"/>
              </a:rPr>
              <a:t>: </a:t>
            </a:r>
            <a:r>
              <a:rPr lang="en-US">
                <a:latin typeface="Lato"/>
                <a:ea typeface="Lato"/>
                <a:cs typeface="Lato"/>
                <a:hlinkClick r:id="rId2"/>
              </a:rPr>
              <a:t>https://www.overleaf.com/read/xtwzcxqbgyyj</a:t>
            </a:r>
            <a:endParaRPr lang="en-VN">
              <a:latin typeface="Lato"/>
              <a:ea typeface="Lato"/>
              <a:cs typeface="Lato"/>
            </a:endParaRPr>
          </a:p>
          <a:p>
            <a:r>
              <a:rPr lang="en-VN">
                <a:latin typeface="Lato"/>
                <a:ea typeface="Lato"/>
                <a:cs typeface="Lato"/>
              </a:rPr>
              <a:t>Template </a:t>
            </a:r>
            <a:r>
              <a:rPr lang="en-VN" err="1">
                <a:latin typeface="Lato"/>
                <a:ea typeface="Lato"/>
                <a:cs typeface="Lato"/>
              </a:rPr>
              <a:t>ứng</a:t>
            </a:r>
            <a:r>
              <a:rPr lang="en-VN">
                <a:latin typeface="Lato"/>
                <a:ea typeface="Lato"/>
                <a:cs typeface="Lato"/>
              </a:rPr>
              <a:t> </a:t>
            </a:r>
            <a:r>
              <a:rPr lang="en-VN" err="1">
                <a:latin typeface="Lato"/>
                <a:ea typeface="Lato"/>
                <a:cs typeface="Lato"/>
              </a:rPr>
              <a:t>dụng</a:t>
            </a:r>
            <a:r>
              <a:rPr lang="en-VN">
                <a:latin typeface="Lato"/>
                <a:ea typeface="Lato"/>
                <a:cs typeface="Lato"/>
              </a:rPr>
              <a:t>: </a:t>
            </a:r>
            <a:r>
              <a:rPr lang="en-US">
                <a:latin typeface="Lato"/>
                <a:ea typeface="Lato"/>
                <a:cs typeface="Lato"/>
                <a:hlinkClick r:id="rId3"/>
              </a:rPr>
              <a:t>https://www.overleaf.com/read/vwyvykhjhzmx</a:t>
            </a:r>
            <a:endParaRPr lang="en-US">
              <a:latin typeface="Lato"/>
              <a:ea typeface="Lato"/>
              <a:cs typeface="Lato"/>
            </a:endParaRPr>
          </a:p>
          <a:p>
            <a:endParaRPr lang="en-VN"/>
          </a:p>
          <a:p>
            <a:endParaRPr lang="en-VN"/>
          </a:p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5298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0B12C2-E1B3-EC36-2A0C-6448AB4E2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88B7E-86B8-4862-842E-2DB840C1EC76}" type="slidenum">
              <a:rPr lang="zh-CN" altLang="en-US" dirty="0" smtClean="0"/>
              <a:t>13</a:t>
            </a:fld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D89BB3-9048-D661-3039-A8E9B03BD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COPY PROJECT TỪ TEMPLATE MẪU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56460-8A9A-26A1-B1A8-FC1BA2366A6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VN"/>
              <a:t>Chọn Menu </a:t>
            </a:r>
            <a:r>
              <a:rPr lang="en-VN">
                <a:sym typeface="Wingdings" pitchFamily="2" charset="2"/>
              </a:rPr>
              <a:t> Copy Project </a:t>
            </a:r>
            <a:endParaRPr lang="en-VN"/>
          </a:p>
        </p:txBody>
      </p:sp>
      <p:pic>
        <p:nvPicPr>
          <p:cNvPr id="7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B5CCF66E-39A3-068C-D4AB-C6BE8CDD3B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1575" y="2428081"/>
            <a:ext cx="1864101" cy="2979738"/>
          </a:xfrm>
          <a:prstGeom prst="rect">
            <a:avLst/>
          </a:prstGeom>
        </p:spPr>
      </p:pic>
      <p:pic>
        <p:nvPicPr>
          <p:cNvPr id="9" name="Picture 8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789CF608-ED2D-6388-F1C3-856E87939B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087" y="2826544"/>
            <a:ext cx="2552700" cy="1562100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2921FD11-5670-123E-1201-A77A2B5DE826}"/>
              </a:ext>
            </a:extLst>
          </p:cNvPr>
          <p:cNvSpPr/>
          <p:nvPr/>
        </p:nvSpPr>
        <p:spPr>
          <a:xfrm>
            <a:off x="628650" y="2636044"/>
            <a:ext cx="1728787" cy="7429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0A71334-437D-944A-42D0-1E10D2730786}"/>
              </a:ext>
            </a:extLst>
          </p:cNvPr>
          <p:cNvSpPr/>
          <p:nvPr/>
        </p:nvSpPr>
        <p:spPr>
          <a:xfrm>
            <a:off x="4931569" y="3407569"/>
            <a:ext cx="1728787" cy="7429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032645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4DF4385F-1F6D-4232-BF3D-08DF30CD2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8" y="1690689"/>
            <a:ext cx="4686865" cy="378044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0E398A-71AA-F1C1-E055-010176C2E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88B7E-86B8-4862-842E-2DB840C1EC76}" type="slidenum">
              <a:rPr lang="zh-CN" altLang="en-US" dirty="0" smtClean="0"/>
              <a:t>14</a:t>
            </a:fld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21FF29-E4A7-D9D1-CBFF-1A651E990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FILE &amp; FOLDER TRONG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C090A-CC74-4BCD-227C-53D3D9AD736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F4DF51-5FF2-84CF-DFCC-F81FAAEDACDB}"/>
              </a:ext>
            </a:extLst>
          </p:cNvPr>
          <p:cNvSpPr txBox="1"/>
          <p:nvPr/>
        </p:nvSpPr>
        <p:spPr>
          <a:xfrm>
            <a:off x="4956271" y="1506023"/>
            <a:ext cx="3720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/>
              <a:t>thư mục chứa các file của các chương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968DC9-6F16-CD41-6E2C-375864F1BF9C}"/>
              </a:ext>
            </a:extLst>
          </p:cNvPr>
          <p:cNvSpPr txBox="1"/>
          <p:nvPr/>
        </p:nvSpPr>
        <p:spPr>
          <a:xfrm>
            <a:off x="5063160" y="1935626"/>
            <a:ext cx="2737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/>
              <a:t>thư mục chứa các hình ảnh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5491A3-3247-B94C-140E-53A1A924E14E}"/>
              </a:ext>
            </a:extLst>
          </p:cNvPr>
          <p:cNvSpPr txBox="1"/>
          <p:nvPr/>
        </p:nvSpPr>
        <p:spPr>
          <a:xfrm>
            <a:off x="5310210" y="2471215"/>
            <a:ext cx="2094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/>
              <a:t>file tex cho trang bìa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64E76D-4A7B-7C86-CEA6-EBEA91059837}"/>
              </a:ext>
            </a:extLst>
          </p:cNvPr>
          <p:cNvSpPr txBox="1"/>
          <p:nvPr/>
        </p:nvSpPr>
        <p:spPr>
          <a:xfrm>
            <a:off x="5413851" y="4945465"/>
            <a:ext cx="1471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/>
              <a:t>các từ viết tắt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22CD17-A1BE-066B-419F-D9A622794258}"/>
              </a:ext>
            </a:extLst>
          </p:cNvPr>
          <p:cNvSpPr txBox="1"/>
          <p:nvPr/>
        </p:nvSpPr>
        <p:spPr>
          <a:xfrm>
            <a:off x="5432234" y="3519328"/>
            <a:ext cx="1384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/>
              <a:t>file tex chính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7DE1E10-90E6-18E8-414F-29B8DF2496A7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1175657" y="2120292"/>
            <a:ext cx="3887503" cy="801542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08A7D52-6095-E798-9DE4-20F49776F452}"/>
              </a:ext>
            </a:extLst>
          </p:cNvPr>
          <p:cNvCxnSpPr>
            <a:cxnSpLocks/>
          </p:cNvCxnSpPr>
          <p:nvPr/>
        </p:nvCxnSpPr>
        <p:spPr>
          <a:xfrm flipV="1">
            <a:off x="928607" y="2655882"/>
            <a:ext cx="4373061" cy="643732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0221A0A-595E-8624-6A54-1D70A6766FA2}"/>
              </a:ext>
            </a:extLst>
          </p:cNvPr>
          <p:cNvCxnSpPr>
            <a:cxnSpLocks/>
          </p:cNvCxnSpPr>
          <p:nvPr/>
        </p:nvCxnSpPr>
        <p:spPr>
          <a:xfrm>
            <a:off x="1577481" y="4478256"/>
            <a:ext cx="3854753" cy="689055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0458980-2F76-BA90-072D-B4E306924450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3656109" y="3703994"/>
            <a:ext cx="1776125" cy="371225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26E67AB-9AD4-397F-13A2-99F42F6DD2AD}"/>
              </a:ext>
            </a:extLst>
          </p:cNvPr>
          <p:cNvCxnSpPr>
            <a:cxnSpLocks/>
            <a:endCxn id="27" idx="1"/>
          </p:cNvCxnSpPr>
          <p:nvPr/>
        </p:nvCxnSpPr>
        <p:spPr>
          <a:xfrm flipV="1">
            <a:off x="3115137" y="3161846"/>
            <a:ext cx="1841134" cy="48351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0803C9A-37CE-01A1-FBC9-0B561FB85092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1577481" y="1690689"/>
            <a:ext cx="3378790" cy="75147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B527DD0-8F61-4AE0-A3BA-C299B3FA9618}"/>
              </a:ext>
            </a:extLst>
          </p:cNvPr>
          <p:cNvSpPr txBox="1"/>
          <p:nvPr/>
        </p:nvSpPr>
        <p:spPr>
          <a:xfrm>
            <a:off x="4956271" y="2977180"/>
            <a:ext cx="3652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/>
              <a:t>file chứa thông tin tài liệu tham khảo</a:t>
            </a:r>
          </a:p>
        </p:txBody>
      </p:sp>
    </p:spTree>
    <p:extLst>
      <p:ext uri="{BB962C8B-B14F-4D97-AF65-F5344CB8AC3E}">
        <p14:creationId xmlns:p14="http://schemas.microsoft.com/office/powerpoint/2010/main" val="1738770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6E6512-A30C-148A-815D-7C96C4C7771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1134" y="3203575"/>
            <a:ext cx="8674100" cy="4508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40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</a:t>
            </a:r>
            <a:r>
              <a:rPr lang="en-VN" sz="40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Chuẩn bị trang bìa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F9038B-FBB0-588B-125F-9C2B1795C37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86600" y="6572250"/>
            <a:ext cx="2057400" cy="365125"/>
          </a:xfrm>
          <a:prstGeom prst="rect">
            <a:avLst/>
          </a:prstGeom>
        </p:spPr>
        <p:txBody>
          <a:bodyPr/>
          <a:lstStyle/>
          <a:p>
            <a:fld id="{11F88B7E-86B8-4862-842E-2DB840C1EC76}" type="slidenum">
              <a:rPr lang="zh-CN" altLang="en-US" dirty="0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6926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3A9C9BA-0506-2DEF-1BA6-39D4D5A6802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7951" y="3083832"/>
            <a:ext cx="8674100" cy="4508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40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</a:t>
            </a:r>
            <a:r>
              <a:rPr lang="en-VN" sz="40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Viết nội dung từng chương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53EC7B-01E9-AA92-E0CC-21A176444F5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86600" y="6572250"/>
            <a:ext cx="2057400" cy="365125"/>
          </a:xfrm>
          <a:prstGeom prst="rect">
            <a:avLst/>
          </a:prstGeom>
        </p:spPr>
        <p:txBody>
          <a:bodyPr/>
          <a:lstStyle/>
          <a:p>
            <a:fld id="{11F88B7E-86B8-4862-842E-2DB840C1EC76}" type="slidenum">
              <a:rPr lang="zh-CN" altLang="en-US" dirty="0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99206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4EDAB1-7351-1852-89A3-D2FDF40DE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88B7E-86B8-4862-842E-2DB840C1EC76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3DFEAD-3C46-6468-9864-55A9EE422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THƯ MỤC</a:t>
            </a:r>
            <a:r>
              <a:rPr lang="en-US"/>
              <a:t> </a:t>
            </a:r>
            <a:r>
              <a:rPr lang="en-US" b="1"/>
              <a:t>Chuong</a:t>
            </a:r>
            <a:endParaRPr lang="en-V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C22C2-291A-FF94-61F8-B88D21B4F19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5FA2FA-1B22-4685-9B64-0973A6E4C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57" y="1471366"/>
            <a:ext cx="8962743" cy="4507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5189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2A2187-4569-A511-F4F0-122B32981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88B7E-86B8-4862-842E-2DB840C1EC76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EA968E-53CA-2187-9C1B-614FB70F4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VÍ DỤ: </a:t>
            </a:r>
            <a:r>
              <a:rPr lang="en-US"/>
              <a:t>C</a:t>
            </a:r>
            <a:r>
              <a:rPr lang="en-VN"/>
              <a:t>hương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614F3-FC5F-8415-F48D-0E0AD9F3352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D9A4A4-A45B-438A-80B0-050311B53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7929"/>
            <a:ext cx="9144000" cy="4604076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CB990CA9-25CF-423E-AEAF-D895AD33D5A4}"/>
              </a:ext>
            </a:extLst>
          </p:cNvPr>
          <p:cNvSpPr/>
          <p:nvPr/>
        </p:nvSpPr>
        <p:spPr>
          <a:xfrm>
            <a:off x="0" y="2733152"/>
            <a:ext cx="1195754" cy="31149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0575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0D1D9B-DE9C-47A5-BE79-2E0B24C36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  <p:sp>
        <p:nvSpPr>
          <p:cNvPr id="8519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600"/>
              <a:t>CHÈN ẢNH VÀ TRÍCH DẪN ẢNH (1)</a:t>
            </a:r>
          </a:p>
        </p:txBody>
      </p:sp>
      <p:sp>
        <p:nvSpPr>
          <p:cNvPr id="851973" name="Rectangle 3"/>
          <p:cNvSpPr>
            <a:spLocks noChangeArrowheads="1"/>
          </p:cNvSpPr>
          <p:nvPr/>
        </p:nvSpPr>
        <p:spPr bwMode="auto">
          <a:xfrm>
            <a:off x="359797" y="1077690"/>
            <a:ext cx="84582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33CC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9pPr>
          </a:lstStyle>
          <a:p>
            <a:r>
              <a:rPr lang="vi-VN" altLang="en-US" sz="2400">
                <a:solidFill>
                  <a:srgbClr val="000066"/>
                </a:solidFill>
              </a:rPr>
              <a:t>Gói </a:t>
            </a:r>
            <a:r>
              <a:rPr lang="vi-VN" altLang="en-US" sz="2400" b="1">
                <a:solidFill>
                  <a:srgbClr val="FF0000"/>
                </a:solidFill>
              </a:rPr>
              <a:t>graphi</a:t>
            </a:r>
            <a:r>
              <a:rPr lang="en-US" altLang="en-US" sz="2400" b="1">
                <a:solidFill>
                  <a:srgbClr val="FF0000"/>
                </a:solidFill>
              </a:rPr>
              <a:t>c</a:t>
            </a:r>
            <a:r>
              <a:rPr lang="vi-VN" altLang="en-US" sz="2400" b="1">
                <a:solidFill>
                  <a:srgbClr val="FF0000"/>
                </a:solidFill>
              </a:rPr>
              <a:t>x</a:t>
            </a:r>
            <a:r>
              <a:rPr lang="vi-VN" altLang="en-US" sz="2400">
                <a:solidFill>
                  <a:srgbClr val="000066"/>
                </a:solidFill>
              </a:rPr>
              <a:t> trợ giúp chèn ảnh</a:t>
            </a:r>
            <a:r>
              <a:rPr lang="en-US" altLang="en-US" sz="2400">
                <a:solidFill>
                  <a:srgbClr val="000066"/>
                </a:solidFill>
              </a:rPr>
              <a:t> </a:t>
            </a:r>
            <a:r>
              <a:rPr lang="en-US" altLang="en-US" sz="2400">
                <a:solidFill>
                  <a:srgbClr val="000066"/>
                </a:solidFill>
                <a:sym typeface="Wingdings" panose="05000000000000000000" pitchFamily="2" charset="2"/>
              </a:rPr>
              <a:t> </a:t>
            </a:r>
            <a:r>
              <a:rPr lang="vi-VN" altLang="en-US" sz="2400">
                <a:solidFill>
                  <a:srgbClr val="000066"/>
                </a:solidFill>
              </a:rPr>
              <a:t>đưa vào trong file main.tex</a:t>
            </a:r>
            <a:r>
              <a:rPr lang="en-US" altLang="en-US" sz="2400">
                <a:solidFill>
                  <a:srgbClr val="000066"/>
                </a:solidFill>
              </a:rPr>
              <a:t> </a:t>
            </a:r>
            <a:r>
              <a:rPr lang="en-US" altLang="en-US" sz="2400" err="1">
                <a:solidFill>
                  <a:srgbClr val="000066"/>
                </a:solidFill>
              </a:rPr>
              <a:t>và</a:t>
            </a:r>
            <a:r>
              <a:rPr lang="vi-VN" altLang="en-US" sz="2400">
                <a:solidFill>
                  <a:srgbClr val="000066"/>
                </a:solidFill>
              </a:rPr>
              <a:t> cung cấp hai câu lệnh mới để chèn ả</a:t>
            </a:r>
            <a:r>
              <a:rPr lang="en-US" altLang="en-US" sz="2400" err="1">
                <a:solidFill>
                  <a:srgbClr val="000066"/>
                </a:solidFill>
              </a:rPr>
              <a:t>nh</a:t>
            </a:r>
            <a:endParaRPr lang="en-US" altLang="en-US" sz="24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1600">
              <a:solidFill>
                <a:srgbClr val="000066"/>
              </a:solidFill>
            </a:endParaRPr>
          </a:p>
          <a:p>
            <a:endParaRPr lang="en-US" altLang="en-US" sz="1600">
              <a:solidFill>
                <a:srgbClr val="000066"/>
              </a:solidFill>
            </a:endParaRPr>
          </a:p>
          <a:p>
            <a:r>
              <a:rPr lang="en-US" altLang="en-US" sz="2000" err="1">
                <a:solidFill>
                  <a:srgbClr val="000066"/>
                </a:solidFill>
              </a:rPr>
              <a:t>Tìm</a:t>
            </a:r>
            <a:r>
              <a:rPr lang="en-US" altLang="en-US" sz="2000">
                <a:solidFill>
                  <a:srgbClr val="000066"/>
                </a:solidFill>
              </a:rPr>
              <a:t> </a:t>
            </a:r>
            <a:r>
              <a:rPr lang="vi-VN" altLang="en-US" sz="2000">
                <a:solidFill>
                  <a:srgbClr val="000066"/>
                </a:solidFill>
              </a:rPr>
              <a:t>hiểu sâu hơn về cách chèn ảnh trong Latex t</a:t>
            </a:r>
            <a:r>
              <a:rPr lang="en-US" altLang="en-US" sz="2000" err="1">
                <a:solidFill>
                  <a:srgbClr val="000066"/>
                </a:solidFill>
              </a:rPr>
              <a:t>ại</a:t>
            </a:r>
            <a:endParaRPr lang="en-US" altLang="en-US" sz="2000">
              <a:solidFill>
                <a:srgbClr val="000066"/>
              </a:solidFill>
            </a:endParaRPr>
          </a:p>
          <a:p>
            <a:pPr marL="457200" lvl="1" indent="0">
              <a:buNone/>
            </a:pPr>
            <a:r>
              <a:rPr lang="en-US" altLang="en-US" sz="2000">
                <a:solidFill>
                  <a:srgbClr val="FF0000"/>
                </a:solidFill>
              </a:rPr>
              <a:t>https://www.overleaf.com/learn/latex/Inserting_Images</a:t>
            </a:r>
          </a:p>
          <a:p>
            <a:pPr marL="0" indent="0">
              <a:buNone/>
            </a:pPr>
            <a:r>
              <a:rPr lang="en-US" altLang="en-US" sz="1600">
                <a:solidFill>
                  <a:srgbClr val="000066"/>
                </a:solidFill>
              </a:rPr>
              <a:t>	</a:t>
            </a:r>
          </a:p>
          <a:p>
            <a:pPr marL="457200" lvl="1" indent="0">
              <a:buNone/>
            </a:pPr>
            <a:endParaRPr lang="en-US" altLang="en-US" sz="1600">
              <a:solidFill>
                <a:srgbClr val="000066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DC92C5-359C-44EA-8352-D4B0D90881F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415" y="1950383"/>
            <a:ext cx="4314149" cy="2601437"/>
          </a:xfrm>
          <a:prstGeom prst="rect">
            <a:avLst/>
          </a:prstGeom>
          <a:ln w="22225">
            <a:solidFill>
              <a:srgbClr val="00B050"/>
            </a:solidFill>
            <a:tailEnd type="triangle"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0A6C25-EF69-4201-BDCE-87BE16F4204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3994" y="1890312"/>
            <a:ext cx="3505200" cy="2819400"/>
          </a:xfrm>
          <a:prstGeom prst="rect">
            <a:avLst/>
          </a:prstGeo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14CEE2B7-6EFE-458F-BF9B-F28AAC841784}"/>
              </a:ext>
            </a:extLst>
          </p:cNvPr>
          <p:cNvSpPr/>
          <p:nvPr/>
        </p:nvSpPr>
        <p:spPr>
          <a:xfrm>
            <a:off x="4452309" y="2980130"/>
            <a:ext cx="940712" cy="639763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B480E3C-8AC0-4989-9E8B-A4DB00FDDCC8}"/>
              </a:ext>
            </a:extLst>
          </p:cNvPr>
          <p:cNvCxnSpPr>
            <a:cxnSpLocks/>
          </p:cNvCxnSpPr>
          <p:nvPr/>
        </p:nvCxnSpPr>
        <p:spPr>
          <a:xfrm flipH="1">
            <a:off x="1850003" y="2449520"/>
            <a:ext cx="457200" cy="15240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A1CF3FB-40DC-43E0-9202-0D29A8800E7F}"/>
              </a:ext>
            </a:extLst>
          </p:cNvPr>
          <p:cNvSpPr txBox="1"/>
          <p:nvPr/>
        </p:nvSpPr>
        <p:spPr>
          <a:xfrm>
            <a:off x="2307203" y="2240526"/>
            <a:ext cx="213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vi-VN" sz="16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err="1"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err="1">
                <a:latin typeface="Arial" panose="020B0604020202020204" pitchFamily="34" charset="0"/>
                <a:cs typeface="Arial" panose="020B0604020202020204" pitchFamily="34" charset="0"/>
              </a:rPr>
              <a:t>chứa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err="1"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E196F29-2283-44D8-AB60-AB9C94479579}"/>
              </a:ext>
            </a:extLst>
          </p:cNvPr>
          <p:cNvCxnSpPr>
            <a:cxnSpLocks/>
          </p:cNvCxnSpPr>
          <p:nvPr/>
        </p:nvCxnSpPr>
        <p:spPr>
          <a:xfrm flipH="1" flipV="1">
            <a:off x="2514601" y="3349693"/>
            <a:ext cx="914399" cy="144780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689AF94-5281-4515-9C8A-990819F1FFA5}"/>
              </a:ext>
            </a:extLst>
          </p:cNvPr>
          <p:cNvSpPr txBox="1"/>
          <p:nvPr/>
        </p:nvSpPr>
        <p:spPr>
          <a:xfrm>
            <a:off x="3429000" y="4860739"/>
            <a:ext cx="16551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err="1">
                <a:latin typeface="Arial" panose="020B0604020202020204" pitchFamily="34" charset="0"/>
                <a:cs typeface="Arial" panose="020B0604020202020204" pitchFamily="34" charset="0"/>
              </a:rPr>
              <a:t>Lệnh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err="1">
                <a:latin typeface="Arial" panose="020B0604020202020204" pitchFamily="34" charset="0"/>
                <a:cs typeface="Arial" panose="020B0604020202020204" pitchFamily="34" charset="0"/>
              </a:rPr>
              <a:t>chèn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err="1"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306286B6-94A0-E8E6-CEA1-D82506FF6318}"/>
              </a:ext>
            </a:extLst>
          </p:cNvPr>
          <p:cNvSpPr txBox="1"/>
          <p:nvPr/>
        </p:nvSpPr>
        <p:spPr>
          <a:xfrm>
            <a:off x="3200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vi-VN"/>
              <a:t>Bấm để thêm nội dung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0D1D9B-DE9C-47A5-BE79-2E0B24C36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  <p:sp>
        <p:nvSpPr>
          <p:cNvPr id="8519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600"/>
              <a:t>CHÈN BẢNG VÀ TRÍCH DẪN BẢNG (1)</a:t>
            </a:r>
          </a:p>
        </p:txBody>
      </p:sp>
      <p:sp>
        <p:nvSpPr>
          <p:cNvPr id="851973" name="Rectangle 3"/>
          <p:cNvSpPr>
            <a:spLocks noChangeArrowheads="1"/>
          </p:cNvSpPr>
          <p:nvPr/>
        </p:nvSpPr>
        <p:spPr bwMode="auto">
          <a:xfrm>
            <a:off x="359797" y="1068357"/>
            <a:ext cx="84582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33CC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err="1">
                <a:solidFill>
                  <a:srgbClr val="000066"/>
                </a:solidFill>
              </a:rPr>
              <a:t>Tạo</a:t>
            </a:r>
            <a:r>
              <a:rPr lang="en-US" altLang="en-US" sz="2000">
                <a:solidFill>
                  <a:srgbClr val="000066"/>
                </a:solidFill>
              </a:rPr>
              <a:t> </a:t>
            </a:r>
            <a:r>
              <a:rPr lang="en-US" altLang="en-US" sz="2000" err="1">
                <a:solidFill>
                  <a:srgbClr val="000066"/>
                </a:solidFill>
              </a:rPr>
              <a:t>bảng</a:t>
            </a:r>
            <a:r>
              <a:rPr lang="en-US" altLang="en-US" sz="2000">
                <a:solidFill>
                  <a:srgbClr val="000066"/>
                </a:solidFill>
              </a:rPr>
              <a:t> đ</a:t>
            </a:r>
            <a:r>
              <a:rPr lang="vi-VN" altLang="en-US" sz="2000">
                <a:solidFill>
                  <a:srgbClr val="000066"/>
                </a:solidFill>
              </a:rPr>
              <a:t>ơ</a:t>
            </a:r>
            <a:r>
              <a:rPr lang="en-US" altLang="en-US" sz="2000">
                <a:solidFill>
                  <a:srgbClr val="000066"/>
                </a:solidFill>
              </a:rPr>
              <a:t>n </a:t>
            </a:r>
            <a:r>
              <a:rPr lang="en-US" altLang="en-US" sz="2000" err="1">
                <a:solidFill>
                  <a:srgbClr val="000066"/>
                </a:solidFill>
              </a:rPr>
              <a:t>giản</a:t>
            </a:r>
            <a:r>
              <a:rPr lang="en-US" altLang="en-US" sz="2000">
                <a:solidFill>
                  <a:srgbClr val="000066"/>
                </a:solidFill>
              </a:rPr>
              <a:t> </a:t>
            </a:r>
            <a:r>
              <a:rPr lang="en-US" altLang="en-US" sz="2000" err="1">
                <a:solidFill>
                  <a:srgbClr val="000066"/>
                </a:solidFill>
              </a:rPr>
              <a:t>trong</a:t>
            </a:r>
            <a:r>
              <a:rPr lang="en-US" altLang="en-US" sz="2000">
                <a:solidFill>
                  <a:srgbClr val="000066"/>
                </a:solidFill>
              </a:rPr>
              <a:t> Latex</a:t>
            </a: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pPr marL="742950" lvl="2" indent="-342900"/>
            <a:r>
              <a:rPr lang="en-US" sz="1800" err="1">
                <a:solidFill>
                  <a:srgbClr val="000066"/>
                </a:solidFill>
              </a:rPr>
              <a:t>Lệnh</a:t>
            </a:r>
            <a:r>
              <a:rPr lang="en-US" sz="1800">
                <a:solidFill>
                  <a:srgbClr val="000066"/>
                </a:solidFill>
              </a:rPr>
              <a:t> \begin{tabular} </a:t>
            </a:r>
            <a:r>
              <a:rPr lang="en-US" sz="1800">
                <a:solidFill>
                  <a:srgbClr val="000066"/>
                </a:solidFill>
                <a:sym typeface="Wingdings" panose="05000000000000000000" pitchFamily="2" charset="2"/>
              </a:rPr>
              <a:t>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phương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thức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tạo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bảng</a:t>
            </a:r>
            <a:endParaRPr lang="en-US" sz="1800">
              <a:solidFill>
                <a:srgbClr val="000066"/>
              </a:solidFill>
            </a:endParaRPr>
          </a:p>
          <a:p>
            <a:pPr marL="742950" lvl="2" indent="-342900"/>
            <a:r>
              <a:rPr lang="en-US" sz="1800">
                <a:solidFill>
                  <a:srgbClr val="000066"/>
                </a:solidFill>
              </a:rPr>
              <a:t>{ c </a:t>
            </a:r>
            <a:r>
              <a:rPr lang="en-US" sz="1800" err="1">
                <a:solidFill>
                  <a:srgbClr val="000066"/>
                </a:solidFill>
              </a:rPr>
              <a:t>c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c</a:t>
            </a:r>
            <a:r>
              <a:rPr lang="en-US" sz="1800">
                <a:solidFill>
                  <a:srgbClr val="000066"/>
                </a:solidFill>
              </a:rPr>
              <a:t> } </a:t>
            </a:r>
            <a:r>
              <a:rPr lang="en-US" sz="1800">
                <a:solidFill>
                  <a:srgbClr val="000066"/>
                </a:solidFill>
                <a:sym typeface="Wingdings" panose="05000000000000000000" pitchFamily="2" charset="2"/>
              </a:rPr>
              <a:t> </a:t>
            </a:r>
            <a:r>
              <a:rPr lang="en-US" sz="1800" err="1">
                <a:solidFill>
                  <a:srgbClr val="000066"/>
                </a:solidFill>
                <a:sym typeface="Wingdings" panose="05000000000000000000" pitchFamily="2" charset="2"/>
              </a:rPr>
              <a:t>Khai</a:t>
            </a:r>
            <a:r>
              <a:rPr lang="en-US" sz="1800">
                <a:solidFill>
                  <a:srgbClr val="000066"/>
                </a:solidFill>
                <a:sym typeface="Wingdings" panose="05000000000000000000" pitchFamily="2" charset="2"/>
              </a:rPr>
              <a:t> </a:t>
            </a:r>
            <a:r>
              <a:rPr lang="en-US" sz="1800" err="1">
                <a:solidFill>
                  <a:srgbClr val="000066"/>
                </a:solidFill>
                <a:sym typeface="Wingdings" panose="05000000000000000000" pitchFamily="2" charset="2"/>
              </a:rPr>
              <a:t>báo</a:t>
            </a:r>
            <a:r>
              <a:rPr lang="en-US" sz="1800">
                <a:solidFill>
                  <a:srgbClr val="000066"/>
                </a:solidFill>
                <a:sym typeface="Wingdings" panose="05000000000000000000" pitchFamily="2" charset="2"/>
              </a:rPr>
              <a:t> </a:t>
            </a:r>
            <a:r>
              <a:rPr lang="en-US" sz="1800" err="1">
                <a:solidFill>
                  <a:srgbClr val="000066"/>
                </a:solidFill>
                <a:sym typeface="Wingdings" panose="05000000000000000000" pitchFamily="2" charset="2"/>
              </a:rPr>
              <a:t>thuộc</a:t>
            </a:r>
            <a:r>
              <a:rPr lang="en-US" sz="1800">
                <a:solidFill>
                  <a:srgbClr val="000066"/>
                </a:solidFill>
                <a:sym typeface="Wingdings" panose="05000000000000000000" pitchFamily="2" charset="2"/>
              </a:rPr>
              <a:t> </a:t>
            </a:r>
            <a:r>
              <a:rPr lang="en-US" sz="1800" err="1">
                <a:solidFill>
                  <a:srgbClr val="000066"/>
                </a:solidFill>
                <a:sym typeface="Wingdings" panose="05000000000000000000" pitchFamily="2" charset="2"/>
              </a:rPr>
              <a:t>tính</a:t>
            </a:r>
            <a:r>
              <a:rPr lang="en-US" sz="1800">
                <a:solidFill>
                  <a:srgbClr val="000066"/>
                </a:solidFill>
                <a:sym typeface="Wingdings" panose="05000000000000000000" pitchFamily="2" charset="2"/>
              </a:rPr>
              <a:t> </a:t>
            </a:r>
            <a:r>
              <a:rPr lang="en-US" sz="1800" err="1">
                <a:solidFill>
                  <a:srgbClr val="000066"/>
                </a:solidFill>
                <a:sym typeface="Wingdings" panose="05000000000000000000" pitchFamily="2" charset="2"/>
              </a:rPr>
              <a:t>cho</a:t>
            </a:r>
            <a:r>
              <a:rPr lang="en-US" sz="1800">
                <a:solidFill>
                  <a:srgbClr val="000066"/>
                </a:solidFill>
                <a:sym typeface="Wingdings" panose="05000000000000000000" pitchFamily="2" charset="2"/>
              </a:rPr>
              <a:t> </a:t>
            </a:r>
            <a:r>
              <a:rPr lang="en-US" sz="1800" err="1">
                <a:solidFill>
                  <a:srgbClr val="000066"/>
                </a:solidFill>
                <a:sym typeface="Wingdings" panose="05000000000000000000" pitchFamily="2" charset="2"/>
              </a:rPr>
              <a:t>bảng</a:t>
            </a:r>
            <a:r>
              <a:rPr lang="en-US" sz="1800">
                <a:solidFill>
                  <a:srgbClr val="000066"/>
                </a:solidFill>
                <a:sym typeface="Wingdings" panose="05000000000000000000" pitchFamily="2" charset="2"/>
              </a:rPr>
              <a:t>:  B</a:t>
            </a:r>
            <a:r>
              <a:rPr lang="vi-VN" sz="1800">
                <a:solidFill>
                  <a:srgbClr val="000066"/>
                </a:solidFill>
                <a:sym typeface="Wingdings" panose="05000000000000000000" pitchFamily="2" charset="2"/>
              </a:rPr>
              <a:t>ảng bao gồm 3 cột và nội dung ở mỗi cột sẽ được căn giữa</a:t>
            </a:r>
            <a:endParaRPr lang="en-US" sz="1800">
              <a:solidFill>
                <a:srgbClr val="000066"/>
              </a:solidFill>
              <a:sym typeface="Wingdings" panose="05000000000000000000" pitchFamily="2" charset="2"/>
            </a:endParaRPr>
          </a:p>
          <a:p>
            <a:pPr marL="742950" lvl="2" indent="-342900"/>
            <a:r>
              <a:rPr lang="en-US" sz="1800" err="1">
                <a:solidFill>
                  <a:srgbClr val="000066"/>
                </a:solidFill>
              </a:rPr>
              <a:t>Có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thể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sử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dụng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tham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số</a:t>
            </a:r>
            <a:r>
              <a:rPr lang="en-US" sz="1800">
                <a:solidFill>
                  <a:srgbClr val="000066"/>
                </a:solidFill>
              </a:rPr>
              <a:t> “r” </a:t>
            </a:r>
            <a:r>
              <a:rPr lang="en-US" sz="1800">
                <a:solidFill>
                  <a:srgbClr val="000066"/>
                </a:solidFill>
                <a:sym typeface="Wingdings" panose="05000000000000000000" pitchFamily="2" charset="2"/>
              </a:rPr>
              <a:t>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căn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phải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hoặc</a:t>
            </a:r>
            <a:r>
              <a:rPr lang="en-US" sz="1800">
                <a:solidFill>
                  <a:srgbClr val="000066"/>
                </a:solidFill>
              </a:rPr>
              <a:t> “l” </a:t>
            </a:r>
            <a:r>
              <a:rPr lang="en-US" sz="1800">
                <a:solidFill>
                  <a:srgbClr val="000066"/>
                </a:solidFill>
                <a:sym typeface="Wingdings" panose="05000000000000000000" pitchFamily="2" charset="2"/>
              </a:rPr>
              <a:t>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căn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trái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cho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nội</a:t>
            </a:r>
            <a:r>
              <a:rPr lang="en-US" sz="1800">
                <a:solidFill>
                  <a:srgbClr val="000066"/>
                </a:solidFill>
              </a:rPr>
              <a:t> dung </a:t>
            </a:r>
            <a:r>
              <a:rPr lang="en-US" sz="1800" err="1">
                <a:solidFill>
                  <a:srgbClr val="000066"/>
                </a:solidFill>
              </a:rPr>
              <a:t>từng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cột</a:t>
            </a:r>
            <a:endParaRPr lang="en-US" sz="1800">
              <a:solidFill>
                <a:srgbClr val="000066"/>
              </a:solidFill>
            </a:endParaRPr>
          </a:p>
          <a:p>
            <a:pPr marL="742950" lvl="2" indent="-342900"/>
            <a:r>
              <a:rPr lang="en-US" sz="1800" err="1">
                <a:solidFill>
                  <a:srgbClr val="000066"/>
                </a:solidFill>
              </a:rPr>
              <a:t>Lệnh</a:t>
            </a:r>
            <a:r>
              <a:rPr lang="en-US" sz="1800">
                <a:solidFill>
                  <a:srgbClr val="000066"/>
                </a:solidFill>
              </a:rPr>
              <a:t> “\\” </a:t>
            </a:r>
            <a:r>
              <a:rPr lang="en-US" sz="1800">
                <a:solidFill>
                  <a:srgbClr val="000066"/>
                </a:solidFill>
                <a:sym typeface="Wingdings" panose="05000000000000000000" pitchFamily="2" charset="2"/>
              </a:rPr>
              <a:t> </a:t>
            </a:r>
            <a:r>
              <a:rPr lang="en-US" sz="1800" err="1">
                <a:solidFill>
                  <a:srgbClr val="000066"/>
                </a:solidFill>
                <a:sym typeface="Wingdings" panose="05000000000000000000" pitchFamily="2" charset="2"/>
              </a:rPr>
              <a:t>Chuyển</a:t>
            </a:r>
            <a:r>
              <a:rPr lang="en-US" sz="1800">
                <a:solidFill>
                  <a:srgbClr val="000066"/>
                </a:solidFill>
                <a:sym typeface="Wingdings" panose="05000000000000000000" pitchFamily="2" charset="2"/>
              </a:rPr>
              <a:t> </a:t>
            </a:r>
            <a:r>
              <a:rPr lang="en-US" sz="1800" err="1">
                <a:solidFill>
                  <a:srgbClr val="000066"/>
                </a:solidFill>
                <a:sym typeface="Wingdings" panose="05000000000000000000" pitchFamily="2" charset="2"/>
              </a:rPr>
              <a:t>đến</a:t>
            </a:r>
            <a:r>
              <a:rPr lang="en-US" sz="1800">
                <a:solidFill>
                  <a:srgbClr val="000066"/>
                </a:solidFill>
                <a:sym typeface="Wingdings" panose="05000000000000000000" pitchFamily="2" charset="2"/>
              </a:rPr>
              <a:t> hang </a:t>
            </a:r>
            <a:r>
              <a:rPr lang="en-US" sz="1800" err="1">
                <a:solidFill>
                  <a:srgbClr val="000066"/>
                </a:solidFill>
                <a:sym typeface="Wingdings" panose="05000000000000000000" pitchFamily="2" charset="2"/>
              </a:rPr>
              <a:t>tiếp</a:t>
            </a:r>
            <a:r>
              <a:rPr lang="en-US" sz="1800">
                <a:solidFill>
                  <a:srgbClr val="000066"/>
                </a:solidFill>
                <a:sym typeface="Wingdings" panose="05000000000000000000" pitchFamily="2" charset="2"/>
              </a:rPr>
              <a:t> </a:t>
            </a:r>
            <a:r>
              <a:rPr lang="en-US" sz="1800" err="1">
                <a:solidFill>
                  <a:srgbClr val="000066"/>
                </a:solidFill>
                <a:sym typeface="Wingdings" panose="05000000000000000000" pitchFamily="2" charset="2"/>
              </a:rPr>
              <a:t>theo</a:t>
            </a:r>
            <a:endParaRPr lang="en-US" sz="1800">
              <a:solidFill>
                <a:srgbClr val="000066"/>
              </a:solidFill>
            </a:endParaRPr>
          </a:p>
          <a:p>
            <a:pPr marL="742950" lvl="2" indent="-342900"/>
            <a:endParaRPr lang="en-US" sz="1800">
              <a:solidFill>
                <a:srgbClr val="000066"/>
              </a:solidFill>
            </a:endParaRPr>
          </a:p>
          <a:p>
            <a:pPr lvl="1"/>
            <a:endParaRPr lang="en-US" sz="1600"/>
          </a:p>
          <a:p>
            <a:pPr lvl="1"/>
            <a:endParaRPr lang="en-US" altLang="en-US" sz="16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pPr marL="0" indent="0">
              <a:buNone/>
            </a:pPr>
            <a:r>
              <a:rPr lang="en-US" altLang="en-US" sz="1600">
                <a:solidFill>
                  <a:srgbClr val="000066"/>
                </a:solidFill>
              </a:rPr>
              <a:t>	</a:t>
            </a:r>
          </a:p>
          <a:p>
            <a:pPr marL="457200" lvl="1" indent="0">
              <a:buNone/>
            </a:pPr>
            <a:endParaRPr lang="en-US" altLang="en-US" sz="1600">
              <a:solidFill>
                <a:srgbClr val="000066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C7AADDE-D19C-4A34-ACCC-E9EE339E50E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745439"/>
            <a:ext cx="2819400" cy="1951038"/>
          </a:xfrm>
          <a:prstGeom prst="rect">
            <a:avLst/>
          </a:prstGeom>
          <a:ln w="22225">
            <a:solidFill>
              <a:srgbClr val="00B050"/>
            </a:solidFill>
            <a:tailEnd type="triangle"/>
          </a:ln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324F1AF7-A74C-4379-9B49-D150848F3500}"/>
              </a:ext>
            </a:extLst>
          </p:cNvPr>
          <p:cNvSpPr/>
          <p:nvPr/>
        </p:nvSpPr>
        <p:spPr>
          <a:xfrm>
            <a:off x="4025444" y="2324877"/>
            <a:ext cx="940712" cy="639763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92652AD-6EB9-46EB-9FF4-EDAAE6787829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1986788"/>
            <a:ext cx="2475865" cy="124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226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0D1D9B-DE9C-47A5-BE79-2E0B24C36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sp>
        <p:nvSpPr>
          <p:cNvPr id="8519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600"/>
              <a:t>CHÈN BẢNG VÀ TRÍCH DẪN BẢNG (2)</a:t>
            </a:r>
          </a:p>
        </p:txBody>
      </p:sp>
      <p:sp>
        <p:nvSpPr>
          <p:cNvPr id="851973" name="Rectangle 3"/>
          <p:cNvSpPr>
            <a:spLocks noChangeArrowheads="1"/>
          </p:cNvSpPr>
          <p:nvPr/>
        </p:nvSpPr>
        <p:spPr bwMode="auto">
          <a:xfrm>
            <a:off x="342900" y="1050925"/>
            <a:ext cx="8458200" cy="4688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33CC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 err="1">
                <a:solidFill>
                  <a:srgbClr val="000066"/>
                </a:solidFill>
              </a:rPr>
              <a:t>Thêm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viền</a:t>
            </a:r>
            <a:r>
              <a:rPr lang="en-US" sz="2000">
                <a:solidFill>
                  <a:srgbClr val="000066"/>
                </a:solidFill>
              </a:rPr>
              <a:t> (borders) </a:t>
            </a:r>
            <a:r>
              <a:rPr lang="en-US" sz="2000" err="1">
                <a:solidFill>
                  <a:srgbClr val="000066"/>
                </a:solidFill>
              </a:rPr>
              <a:t>cho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bảng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để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trực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quan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hơn</a:t>
            </a:r>
            <a:endParaRPr lang="en-US" sz="2000">
              <a:solidFill>
                <a:srgbClr val="000066"/>
              </a:solidFill>
            </a:endParaRPr>
          </a:p>
          <a:p>
            <a:endParaRPr lang="en-US" sz="2000">
              <a:solidFill>
                <a:srgbClr val="000066"/>
              </a:solidFill>
            </a:endParaRPr>
          </a:p>
          <a:p>
            <a:endParaRPr lang="en-US" sz="2000">
              <a:solidFill>
                <a:srgbClr val="000066"/>
              </a:solidFill>
            </a:endParaRPr>
          </a:p>
          <a:p>
            <a:endParaRPr lang="en-US" sz="2000">
              <a:solidFill>
                <a:srgbClr val="000066"/>
              </a:solidFill>
            </a:endParaRPr>
          </a:p>
          <a:p>
            <a:endParaRPr lang="en-US" sz="2000">
              <a:solidFill>
                <a:srgbClr val="000066"/>
              </a:solidFill>
            </a:endParaRPr>
          </a:p>
          <a:p>
            <a:endParaRPr lang="en-US" sz="2000">
              <a:solidFill>
                <a:srgbClr val="000066"/>
              </a:solidFill>
            </a:endParaRPr>
          </a:p>
          <a:p>
            <a:endParaRPr lang="en-US" sz="2000">
              <a:solidFill>
                <a:srgbClr val="000066"/>
              </a:solidFill>
            </a:endParaRPr>
          </a:p>
          <a:p>
            <a:endParaRPr lang="en-US" sz="2000">
              <a:solidFill>
                <a:srgbClr val="000066"/>
              </a:solidFill>
            </a:endParaRPr>
          </a:p>
          <a:p>
            <a:endParaRPr lang="en-US" sz="2000">
              <a:solidFill>
                <a:srgbClr val="000066"/>
              </a:solidFill>
            </a:endParaRPr>
          </a:p>
          <a:p>
            <a:pPr lvl="1"/>
            <a:endParaRPr lang="en-US" sz="1600">
              <a:solidFill>
                <a:srgbClr val="000066"/>
              </a:solidFill>
            </a:endParaRPr>
          </a:p>
          <a:p>
            <a:pPr lvl="1"/>
            <a:r>
              <a:rPr lang="en-US" sz="1600">
                <a:solidFill>
                  <a:srgbClr val="000066"/>
                </a:solidFill>
              </a:rPr>
              <a:t>{||c </a:t>
            </a:r>
            <a:r>
              <a:rPr lang="en-US" sz="1600" err="1">
                <a:solidFill>
                  <a:srgbClr val="000066"/>
                </a:solidFill>
              </a:rPr>
              <a:t>c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c</a:t>
            </a:r>
            <a:r>
              <a:rPr lang="en-US" sz="1600">
                <a:solidFill>
                  <a:srgbClr val="000066"/>
                </a:solidFill>
              </a:rPr>
              <a:t> c||} </a:t>
            </a:r>
            <a:r>
              <a:rPr lang="en-US" sz="1600">
                <a:solidFill>
                  <a:srgbClr val="000066"/>
                </a:solidFill>
                <a:sym typeface="Wingdings" panose="05000000000000000000" pitchFamily="2" charset="2"/>
              </a:rPr>
              <a:t>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Câu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lệnh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này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khai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báo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bảng</a:t>
            </a:r>
            <a:r>
              <a:rPr lang="en-US" sz="1600">
                <a:solidFill>
                  <a:srgbClr val="000066"/>
                </a:solidFill>
              </a:rPr>
              <a:t> bao </a:t>
            </a:r>
            <a:r>
              <a:rPr lang="en-US" sz="1600" err="1">
                <a:solidFill>
                  <a:srgbClr val="000066"/>
                </a:solidFill>
              </a:rPr>
              <a:t>gồm</a:t>
            </a:r>
            <a:r>
              <a:rPr lang="en-US" sz="1600">
                <a:solidFill>
                  <a:srgbClr val="000066"/>
                </a:solidFill>
              </a:rPr>
              <a:t> 4 </a:t>
            </a:r>
            <a:r>
              <a:rPr lang="en-US" sz="1600" err="1">
                <a:solidFill>
                  <a:srgbClr val="000066"/>
                </a:solidFill>
              </a:rPr>
              <a:t>cột</a:t>
            </a:r>
            <a:r>
              <a:rPr lang="en-US" sz="1600">
                <a:solidFill>
                  <a:srgbClr val="000066"/>
                </a:solidFill>
              </a:rPr>
              <a:t>;</a:t>
            </a:r>
            <a:r>
              <a:rPr lang="en-US" sz="1600">
                <a:ea typeface="Calibri" panose="020F0502020204030204" pitchFamily="34" charset="0"/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phần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đầu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và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cuối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của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bảng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sẽ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xuất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hiện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hai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viền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dọc</a:t>
            </a:r>
            <a:endParaRPr lang="en-US" sz="1600">
              <a:solidFill>
                <a:srgbClr val="000066"/>
              </a:solidFill>
            </a:endParaRPr>
          </a:p>
          <a:p>
            <a:pPr lvl="1"/>
            <a:r>
              <a:rPr lang="en-US" sz="1600">
                <a:solidFill>
                  <a:srgbClr val="000066"/>
                </a:solidFill>
              </a:rPr>
              <a:t>\</a:t>
            </a:r>
            <a:r>
              <a:rPr lang="vi-VN" sz="1600">
                <a:solidFill>
                  <a:srgbClr val="000066"/>
                </a:solidFill>
              </a:rPr>
              <a:t>hline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>
                <a:solidFill>
                  <a:srgbClr val="000066"/>
                </a:solidFill>
                <a:sym typeface="Wingdings" panose="05000000000000000000" pitchFamily="2" charset="2"/>
              </a:rPr>
              <a:t> </a:t>
            </a:r>
            <a:r>
              <a:rPr lang="vi-VN" sz="1600">
                <a:solidFill>
                  <a:srgbClr val="000066"/>
                </a:solidFill>
              </a:rPr>
              <a:t>tạo viền ngang </a:t>
            </a:r>
            <a:r>
              <a:rPr lang="en-US" sz="1600" err="1">
                <a:solidFill>
                  <a:srgbClr val="000066"/>
                </a:solidFill>
              </a:rPr>
              <a:t>giữa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các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hàng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trong</a:t>
            </a:r>
            <a:r>
              <a:rPr lang="en-US" sz="1600">
                <a:solidFill>
                  <a:srgbClr val="000066"/>
                </a:solidFill>
              </a:rPr>
              <a:t> bảng</a:t>
            </a:r>
            <a:endParaRPr 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pPr marL="0" indent="0">
              <a:buNone/>
            </a:pPr>
            <a:r>
              <a:rPr lang="en-US" altLang="en-US" sz="1600">
                <a:solidFill>
                  <a:srgbClr val="000066"/>
                </a:solidFill>
              </a:rPr>
              <a:t>	</a:t>
            </a:r>
          </a:p>
          <a:p>
            <a:pPr marL="457200" lvl="1" indent="0">
              <a:buNone/>
            </a:pPr>
            <a:endParaRPr lang="en-US" altLang="en-US" sz="1600">
              <a:solidFill>
                <a:srgbClr val="000066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716231-1C25-43EF-8BCD-B449247D991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667069"/>
            <a:ext cx="2667000" cy="2743200"/>
          </a:xfrm>
          <a:prstGeom prst="rect">
            <a:avLst/>
          </a:prstGeom>
          <a:ln w="22225">
            <a:solidFill>
              <a:srgbClr val="00B050"/>
            </a:solidFill>
            <a:tailEnd type="triangle"/>
          </a:ln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C27F201F-13FD-4052-95BF-66DDF827B42B}"/>
              </a:ext>
            </a:extLst>
          </p:cNvPr>
          <p:cNvSpPr/>
          <p:nvPr/>
        </p:nvSpPr>
        <p:spPr>
          <a:xfrm>
            <a:off x="3733800" y="2718787"/>
            <a:ext cx="940712" cy="639763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D58F2F7-3239-4032-A38B-33506F693381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1370" y="1806769"/>
            <a:ext cx="3371215" cy="210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0783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0D1D9B-DE9C-47A5-BE79-2E0B24C36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  <p:sp>
        <p:nvSpPr>
          <p:cNvPr id="8519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600"/>
              <a:t>CHÈN BẢNG VÀ TRÍCH DẪN BẢNG (3)</a:t>
            </a:r>
          </a:p>
        </p:txBody>
      </p:sp>
      <p:sp>
        <p:nvSpPr>
          <p:cNvPr id="851973" name="Rectangle 3"/>
          <p:cNvSpPr>
            <a:spLocks noChangeArrowheads="1"/>
          </p:cNvSpPr>
          <p:nvPr/>
        </p:nvSpPr>
        <p:spPr bwMode="auto">
          <a:xfrm>
            <a:off x="342900" y="1085726"/>
            <a:ext cx="84582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33CC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 err="1">
                <a:solidFill>
                  <a:srgbClr val="000066"/>
                </a:solidFill>
              </a:rPr>
              <a:t>Chú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vi-VN" sz="2000">
                <a:solidFill>
                  <a:srgbClr val="000066"/>
                </a:solidFill>
              </a:rPr>
              <a:t>thích, gán nhãn và tham chiếu cho bảng tương tự như trong ví dụ chèn ảnh. </a:t>
            </a:r>
            <a:endParaRPr lang="en-US" sz="2000">
              <a:solidFill>
                <a:srgbClr val="000066"/>
              </a:solidFill>
            </a:endParaRPr>
          </a:p>
          <a:p>
            <a:endParaRPr lang="en-US" sz="2000">
              <a:solidFill>
                <a:srgbClr val="000066"/>
              </a:solidFill>
            </a:endParaRPr>
          </a:p>
          <a:p>
            <a:endParaRPr lang="en-US" sz="2000">
              <a:solidFill>
                <a:srgbClr val="000066"/>
              </a:solidFill>
            </a:endParaRPr>
          </a:p>
          <a:p>
            <a:endParaRPr lang="en-US" sz="2000">
              <a:solidFill>
                <a:srgbClr val="000066"/>
              </a:solidFill>
            </a:endParaRPr>
          </a:p>
          <a:p>
            <a:endParaRPr lang="en-US" sz="2000">
              <a:solidFill>
                <a:srgbClr val="000066"/>
              </a:solidFill>
            </a:endParaRPr>
          </a:p>
          <a:p>
            <a:endParaRPr lang="en-US" sz="2000">
              <a:solidFill>
                <a:srgbClr val="000066"/>
              </a:solidFill>
            </a:endParaRPr>
          </a:p>
          <a:p>
            <a:endParaRPr lang="en-US" sz="2000">
              <a:solidFill>
                <a:srgbClr val="000066"/>
              </a:solidFill>
            </a:endParaRPr>
          </a:p>
          <a:p>
            <a:pPr lvl="1"/>
            <a:endParaRPr lang="en-US" sz="1600">
              <a:solidFill>
                <a:srgbClr val="000066"/>
              </a:solidFill>
            </a:endParaRPr>
          </a:p>
          <a:p>
            <a:pPr lvl="1"/>
            <a:endParaRPr lang="en-US" sz="1600">
              <a:solidFill>
                <a:srgbClr val="000066"/>
              </a:solidFill>
            </a:endParaRPr>
          </a:p>
          <a:p>
            <a:pPr lvl="1"/>
            <a:r>
              <a:rPr lang="en-US" sz="1600" err="1">
                <a:solidFill>
                  <a:srgbClr val="000066"/>
                </a:solidFill>
              </a:rPr>
              <a:t>Tạo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bảng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trong</a:t>
            </a:r>
            <a:r>
              <a:rPr lang="en-US" sz="1600">
                <a:solidFill>
                  <a:srgbClr val="000066"/>
                </a:solidFill>
              </a:rPr>
              <a:t> Latex </a:t>
            </a:r>
            <a:r>
              <a:rPr lang="en-US" sz="1600" err="1">
                <a:solidFill>
                  <a:srgbClr val="000066"/>
                </a:solidFill>
              </a:rPr>
              <a:t>khá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phức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tạp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và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mất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thời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gian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>
                <a:solidFill>
                  <a:srgbClr val="000066"/>
                </a:solidFill>
                <a:sym typeface="Wingdings" panose="05000000000000000000" pitchFamily="2" charset="2"/>
              </a:rPr>
              <a:t> </a:t>
            </a:r>
            <a:r>
              <a:rPr lang="en-US" sz="1600" err="1">
                <a:solidFill>
                  <a:srgbClr val="000066"/>
                </a:solidFill>
              </a:rPr>
              <a:t>có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thể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sử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dụng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các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công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cụ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hỗ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trợ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tạo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bảng</a:t>
            </a:r>
            <a:r>
              <a:rPr lang="en-US" sz="1600">
                <a:solidFill>
                  <a:srgbClr val="000066"/>
                </a:solidFill>
              </a:rPr>
              <a:t>, </a:t>
            </a:r>
            <a:r>
              <a:rPr lang="en-US" sz="1600" err="1">
                <a:solidFill>
                  <a:srgbClr val="000066"/>
                </a:solidFill>
              </a:rPr>
              <a:t>ví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dụ</a:t>
            </a:r>
            <a:r>
              <a:rPr lang="en-US" sz="1600">
                <a:solidFill>
                  <a:srgbClr val="000066"/>
                </a:solidFill>
              </a:rPr>
              <a:t>: </a:t>
            </a:r>
            <a:r>
              <a:rPr lang="en-US" sz="1600">
                <a:solidFill>
                  <a:srgbClr val="FF0000"/>
                </a:solidFill>
              </a:rPr>
              <a:t>https://www.tablesgenerator.com/</a:t>
            </a:r>
          </a:p>
          <a:p>
            <a:pPr lvl="1"/>
            <a:endParaRPr lang="en-US" sz="1600">
              <a:solidFill>
                <a:srgbClr val="000066"/>
              </a:solidFill>
            </a:endParaRPr>
          </a:p>
          <a:p>
            <a:pPr lvl="1"/>
            <a:r>
              <a:rPr lang="en-US" sz="1600" err="1">
                <a:solidFill>
                  <a:srgbClr val="000066"/>
                </a:solidFill>
              </a:rPr>
              <a:t>Có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thể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tìm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hiểu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sâu</a:t>
            </a:r>
            <a:r>
              <a:rPr lang="en-US" sz="1600">
                <a:solidFill>
                  <a:srgbClr val="000066"/>
                </a:solidFill>
              </a:rPr>
              <a:t> h</a:t>
            </a:r>
            <a:r>
              <a:rPr lang="vi-VN" sz="1600">
                <a:solidFill>
                  <a:srgbClr val="000066"/>
                </a:solidFill>
              </a:rPr>
              <a:t>ơ</a:t>
            </a:r>
            <a:r>
              <a:rPr lang="en-US" sz="1600">
                <a:solidFill>
                  <a:srgbClr val="000066"/>
                </a:solidFill>
              </a:rPr>
              <a:t>n </a:t>
            </a:r>
            <a:r>
              <a:rPr lang="en-US" sz="1600" err="1">
                <a:solidFill>
                  <a:srgbClr val="000066"/>
                </a:solidFill>
              </a:rPr>
              <a:t>tạo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bảng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tại</a:t>
            </a:r>
            <a:r>
              <a:rPr lang="en-US" sz="1600">
                <a:solidFill>
                  <a:srgbClr val="000066"/>
                </a:solidFill>
              </a:rPr>
              <a:t>: </a:t>
            </a:r>
            <a:r>
              <a:rPr lang="en-US" sz="1600">
                <a:solidFill>
                  <a:srgbClr val="FF0000"/>
                </a:solidFill>
              </a:rPr>
              <a:t>https://www.overleaf.com/learn/latex/Tables</a:t>
            </a:r>
          </a:p>
          <a:p>
            <a:pPr marL="457200" lvl="1" indent="0">
              <a:buNone/>
            </a:pPr>
            <a:endParaRPr lang="en-US" sz="1600">
              <a:solidFill>
                <a:srgbClr val="000066"/>
              </a:solidFill>
            </a:endParaRPr>
          </a:p>
          <a:p>
            <a:pPr marL="0" indent="0">
              <a:buNone/>
            </a:pPr>
            <a:endParaRPr 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pPr marL="0" indent="0">
              <a:buNone/>
            </a:pPr>
            <a:r>
              <a:rPr lang="en-US" altLang="en-US" sz="1600">
                <a:solidFill>
                  <a:srgbClr val="000066"/>
                </a:solidFill>
              </a:rPr>
              <a:t>	</a:t>
            </a:r>
          </a:p>
          <a:p>
            <a:pPr marL="457200" lvl="1" indent="0">
              <a:buNone/>
            </a:pPr>
            <a:endParaRPr lang="en-US" altLang="en-US" sz="1600">
              <a:solidFill>
                <a:srgbClr val="000066"/>
              </a:solidFill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C27F201F-13FD-4052-95BF-66DDF827B42B}"/>
              </a:ext>
            </a:extLst>
          </p:cNvPr>
          <p:cNvSpPr/>
          <p:nvPr/>
        </p:nvSpPr>
        <p:spPr>
          <a:xfrm>
            <a:off x="4100762" y="2715214"/>
            <a:ext cx="940712" cy="639763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7DF058-675B-4CC6-93D6-4451177AB7D5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05" y="1805338"/>
            <a:ext cx="3382009" cy="2642077"/>
          </a:xfrm>
          <a:prstGeom prst="rect">
            <a:avLst/>
          </a:prstGeom>
          <a:ln w="22225">
            <a:solidFill>
              <a:srgbClr val="00B050"/>
            </a:solidFill>
            <a:tailEnd type="triangle"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F942FE-8BDA-43E7-A05F-4ED7DF5B9C2A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3522" y="2067514"/>
            <a:ext cx="3504676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3404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0D1D9B-DE9C-47A5-BE79-2E0B24C36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  <p:sp>
        <p:nvSpPr>
          <p:cNvPr id="8519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600"/>
              <a:t>CHÈN BẢNG VÀ TRÍCH DẪN BẢNG (3)</a:t>
            </a:r>
          </a:p>
        </p:txBody>
      </p:sp>
      <p:sp>
        <p:nvSpPr>
          <p:cNvPr id="851973" name="Rectangle 3"/>
          <p:cNvSpPr>
            <a:spLocks noChangeArrowheads="1"/>
          </p:cNvSpPr>
          <p:nvPr/>
        </p:nvSpPr>
        <p:spPr bwMode="auto">
          <a:xfrm>
            <a:off x="342900" y="1162050"/>
            <a:ext cx="8458200" cy="453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33CC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 err="1">
                <a:solidFill>
                  <a:srgbClr val="000066"/>
                </a:solidFill>
              </a:rPr>
              <a:t>Chú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vi-VN" sz="2000">
                <a:solidFill>
                  <a:srgbClr val="000066"/>
                </a:solidFill>
              </a:rPr>
              <a:t>thích, gán nhãn và tham chiếu cho bảng tương tự như trong ví dụ chèn ảnh. </a:t>
            </a:r>
            <a:endParaRPr lang="en-US" sz="2000">
              <a:solidFill>
                <a:srgbClr val="000066"/>
              </a:solidFill>
            </a:endParaRPr>
          </a:p>
          <a:p>
            <a:endParaRPr lang="en-US" sz="2000">
              <a:solidFill>
                <a:srgbClr val="000066"/>
              </a:solidFill>
            </a:endParaRPr>
          </a:p>
          <a:p>
            <a:endParaRPr lang="en-US" sz="2000">
              <a:solidFill>
                <a:srgbClr val="000066"/>
              </a:solidFill>
            </a:endParaRPr>
          </a:p>
          <a:p>
            <a:endParaRPr lang="en-US" sz="2000">
              <a:solidFill>
                <a:srgbClr val="000066"/>
              </a:solidFill>
            </a:endParaRPr>
          </a:p>
          <a:p>
            <a:endParaRPr lang="en-US" sz="2000">
              <a:solidFill>
                <a:srgbClr val="000066"/>
              </a:solidFill>
            </a:endParaRPr>
          </a:p>
          <a:p>
            <a:endParaRPr lang="en-US" sz="2000">
              <a:solidFill>
                <a:srgbClr val="000066"/>
              </a:solidFill>
            </a:endParaRPr>
          </a:p>
          <a:p>
            <a:endParaRPr lang="en-US" sz="2000">
              <a:solidFill>
                <a:srgbClr val="000066"/>
              </a:solidFill>
            </a:endParaRPr>
          </a:p>
          <a:p>
            <a:pPr lvl="1"/>
            <a:endParaRPr lang="en-US" sz="1600">
              <a:solidFill>
                <a:srgbClr val="000066"/>
              </a:solidFill>
            </a:endParaRPr>
          </a:p>
          <a:p>
            <a:pPr marL="457200" lvl="1" indent="0">
              <a:buNone/>
            </a:pPr>
            <a:endParaRPr lang="en-US" sz="1600">
              <a:solidFill>
                <a:srgbClr val="000066"/>
              </a:solidFill>
            </a:endParaRPr>
          </a:p>
          <a:p>
            <a:pPr marL="457200" lvl="1" indent="0">
              <a:buNone/>
            </a:pPr>
            <a:endParaRPr lang="en-US" sz="1600">
              <a:solidFill>
                <a:srgbClr val="000066"/>
              </a:solidFill>
            </a:endParaRPr>
          </a:p>
          <a:p>
            <a:pPr lvl="1"/>
            <a:r>
              <a:rPr lang="en-US" sz="1600" err="1">
                <a:solidFill>
                  <a:srgbClr val="000066"/>
                </a:solidFill>
              </a:rPr>
              <a:t>Có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thể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tìm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hiểu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sâu</a:t>
            </a:r>
            <a:r>
              <a:rPr lang="en-US" sz="1600">
                <a:solidFill>
                  <a:srgbClr val="000066"/>
                </a:solidFill>
              </a:rPr>
              <a:t> h</a:t>
            </a:r>
            <a:r>
              <a:rPr lang="vi-VN" sz="1600">
                <a:solidFill>
                  <a:srgbClr val="000066"/>
                </a:solidFill>
              </a:rPr>
              <a:t>ơ</a:t>
            </a:r>
            <a:r>
              <a:rPr lang="en-US" sz="1600">
                <a:solidFill>
                  <a:srgbClr val="000066"/>
                </a:solidFill>
              </a:rPr>
              <a:t>n </a:t>
            </a:r>
            <a:r>
              <a:rPr lang="en-US" sz="1600" err="1">
                <a:solidFill>
                  <a:srgbClr val="000066"/>
                </a:solidFill>
              </a:rPr>
              <a:t>tạo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bảng</a:t>
            </a:r>
            <a:r>
              <a:rPr lang="en-US" sz="1600">
                <a:solidFill>
                  <a:srgbClr val="000066"/>
                </a:solidFill>
              </a:rPr>
              <a:t> </a:t>
            </a:r>
            <a:r>
              <a:rPr lang="en-US" sz="1600" err="1">
                <a:solidFill>
                  <a:srgbClr val="000066"/>
                </a:solidFill>
              </a:rPr>
              <a:t>tại</a:t>
            </a:r>
            <a:r>
              <a:rPr lang="en-US" sz="1600">
                <a:solidFill>
                  <a:srgbClr val="000066"/>
                </a:solidFill>
              </a:rPr>
              <a:t>: </a:t>
            </a:r>
            <a:r>
              <a:rPr lang="en-US" sz="1600">
                <a:solidFill>
                  <a:srgbClr val="FF0000"/>
                </a:solidFill>
              </a:rPr>
              <a:t>https://www.overleaf.com/learn/latex/Tables</a:t>
            </a:r>
          </a:p>
          <a:p>
            <a:pPr marL="457200" lvl="1" indent="0">
              <a:buNone/>
            </a:pPr>
            <a:endParaRPr lang="en-US" sz="1600">
              <a:solidFill>
                <a:srgbClr val="000066"/>
              </a:solidFill>
            </a:endParaRPr>
          </a:p>
          <a:p>
            <a:pPr marL="0" indent="0">
              <a:buNone/>
            </a:pPr>
            <a:endParaRPr 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pPr marL="0" indent="0">
              <a:buNone/>
            </a:pPr>
            <a:r>
              <a:rPr lang="en-US" altLang="en-US" sz="1600">
                <a:solidFill>
                  <a:srgbClr val="000066"/>
                </a:solidFill>
              </a:rPr>
              <a:t>	</a:t>
            </a:r>
          </a:p>
          <a:p>
            <a:pPr marL="457200" lvl="1" indent="0">
              <a:buNone/>
            </a:pPr>
            <a:endParaRPr lang="en-US" altLang="en-US" sz="1600">
              <a:solidFill>
                <a:srgbClr val="000066"/>
              </a:solidFill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C27F201F-13FD-4052-95BF-66DDF827B42B}"/>
              </a:ext>
            </a:extLst>
          </p:cNvPr>
          <p:cNvSpPr/>
          <p:nvPr/>
        </p:nvSpPr>
        <p:spPr>
          <a:xfrm>
            <a:off x="4212730" y="2883161"/>
            <a:ext cx="940712" cy="639763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7DF058-675B-4CC6-93D6-4451177AB7D5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673" y="1973285"/>
            <a:ext cx="3382009" cy="2642077"/>
          </a:xfrm>
          <a:prstGeom prst="rect">
            <a:avLst/>
          </a:prstGeom>
          <a:ln w="22225">
            <a:solidFill>
              <a:srgbClr val="00B050"/>
            </a:solidFill>
            <a:tailEnd type="triangle"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F942FE-8BDA-43E7-A05F-4ED7DF5B9C2A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5490" y="2235461"/>
            <a:ext cx="3504676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5369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0D1D9B-DE9C-47A5-BE79-2E0B24C36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  <p:sp>
        <p:nvSpPr>
          <p:cNvPr id="8519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600"/>
              <a:t>CHÈN BẢNG VÀ TRÍCH DẪN BẢNG (4)</a:t>
            </a:r>
          </a:p>
        </p:txBody>
      </p:sp>
      <p:sp>
        <p:nvSpPr>
          <p:cNvPr id="851973" name="Rectangle 3"/>
          <p:cNvSpPr>
            <a:spLocks noChangeArrowheads="1"/>
          </p:cNvSpPr>
          <p:nvPr/>
        </p:nvSpPr>
        <p:spPr bwMode="auto">
          <a:xfrm>
            <a:off x="342900" y="909735"/>
            <a:ext cx="84582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33CC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800" err="1">
                <a:solidFill>
                  <a:srgbClr val="000066"/>
                </a:solidFill>
                <a:latin typeface="Arial"/>
                <a:cs typeface="Arial"/>
              </a:rPr>
              <a:t>Tạo</a:t>
            </a:r>
            <a:r>
              <a:rPr lang="en-US" sz="180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lang="en-US" sz="1800" err="1">
                <a:solidFill>
                  <a:srgbClr val="000066"/>
                </a:solidFill>
                <a:latin typeface="Arial"/>
                <a:cs typeface="Arial"/>
              </a:rPr>
              <a:t>bảng</a:t>
            </a:r>
            <a:r>
              <a:rPr lang="en-US" sz="180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lang="en-US" sz="1800" err="1">
                <a:solidFill>
                  <a:srgbClr val="000066"/>
                </a:solidFill>
                <a:latin typeface="Arial"/>
                <a:cs typeface="Arial"/>
              </a:rPr>
              <a:t>trong</a:t>
            </a:r>
            <a:r>
              <a:rPr lang="en-US" sz="1800">
                <a:solidFill>
                  <a:srgbClr val="000066"/>
                </a:solidFill>
                <a:latin typeface="Arial"/>
                <a:cs typeface="Arial"/>
              </a:rPr>
              <a:t> Latex </a:t>
            </a:r>
            <a:r>
              <a:rPr lang="en-US" sz="1800" err="1">
                <a:solidFill>
                  <a:srgbClr val="000066"/>
                </a:solidFill>
                <a:latin typeface="Arial"/>
                <a:cs typeface="Arial"/>
              </a:rPr>
              <a:t>khá</a:t>
            </a:r>
            <a:r>
              <a:rPr lang="en-US" sz="180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lang="en-US" sz="1800" err="1">
                <a:solidFill>
                  <a:srgbClr val="000066"/>
                </a:solidFill>
                <a:latin typeface="Arial"/>
                <a:cs typeface="Arial"/>
              </a:rPr>
              <a:t>phức</a:t>
            </a:r>
            <a:r>
              <a:rPr lang="en-US" sz="180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lang="en-US" sz="1800" err="1">
                <a:solidFill>
                  <a:srgbClr val="000066"/>
                </a:solidFill>
                <a:latin typeface="Arial"/>
                <a:cs typeface="Arial"/>
              </a:rPr>
              <a:t>tạp</a:t>
            </a:r>
            <a:r>
              <a:rPr lang="en-US" sz="180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lang="en-US" sz="1800" err="1">
                <a:solidFill>
                  <a:srgbClr val="000066"/>
                </a:solidFill>
                <a:latin typeface="Arial"/>
                <a:cs typeface="Arial"/>
              </a:rPr>
              <a:t>và</a:t>
            </a:r>
            <a:r>
              <a:rPr lang="en-US" sz="180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lang="en-US" sz="1800" err="1">
                <a:solidFill>
                  <a:srgbClr val="000066"/>
                </a:solidFill>
                <a:latin typeface="Arial"/>
                <a:cs typeface="Arial"/>
              </a:rPr>
              <a:t>mất</a:t>
            </a:r>
            <a:r>
              <a:rPr lang="en-US" sz="180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lang="en-US" sz="1800" err="1">
                <a:solidFill>
                  <a:srgbClr val="000066"/>
                </a:solidFill>
                <a:latin typeface="Arial"/>
                <a:cs typeface="Arial"/>
              </a:rPr>
              <a:t>thời</a:t>
            </a:r>
            <a:r>
              <a:rPr lang="en-US" sz="180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lang="en-US" sz="1800" err="1">
                <a:solidFill>
                  <a:srgbClr val="000066"/>
                </a:solidFill>
                <a:latin typeface="Arial"/>
                <a:cs typeface="Arial"/>
              </a:rPr>
              <a:t>gian</a:t>
            </a:r>
            <a:r>
              <a:rPr lang="en-US" sz="180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lang="en-US" sz="1800">
                <a:solidFill>
                  <a:srgbClr val="000066"/>
                </a:solidFill>
                <a:latin typeface="Arial"/>
                <a:cs typeface="Arial"/>
                <a:sym typeface="Wingdings" panose="05000000000000000000" pitchFamily="2" charset="2"/>
              </a:rPr>
              <a:t> </a:t>
            </a:r>
            <a:r>
              <a:rPr lang="en-US" sz="1800" err="1">
                <a:solidFill>
                  <a:srgbClr val="000066"/>
                </a:solidFill>
                <a:latin typeface="Arial"/>
                <a:cs typeface="Arial"/>
              </a:rPr>
              <a:t>có</a:t>
            </a:r>
            <a:r>
              <a:rPr lang="en-US" sz="180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lang="en-US" sz="1800" err="1">
                <a:solidFill>
                  <a:srgbClr val="000066"/>
                </a:solidFill>
                <a:latin typeface="Arial"/>
                <a:cs typeface="Arial"/>
              </a:rPr>
              <a:t>thể</a:t>
            </a:r>
            <a:r>
              <a:rPr lang="en-US" sz="180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lang="en-US" sz="1800" err="1">
                <a:solidFill>
                  <a:srgbClr val="000066"/>
                </a:solidFill>
                <a:latin typeface="Arial"/>
                <a:cs typeface="Arial"/>
              </a:rPr>
              <a:t>sử</a:t>
            </a:r>
            <a:r>
              <a:rPr lang="en-US" sz="180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lang="en-US" sz="1800" err="1">
                <a:solidFill>
                  <a:srgbClr val="000066"/>
                </a:solidFill>
                <a:latin typeface="Arial"/>
                <a:cs typeface="Arial"/>
              </a:rPr>
              <a:t>dụng</a:t>
            </a:r>
            <a:r>
              <a:rPr lang="en-US" sz="180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lang="en-US" sz="1800" err="1">
                <a:solidFill>
                  <a:srgbClr val="000066"/>
                </a:solidFill>
                <a:latin typeface="Arial"/>
                <a:cs typeface="Arial"/>
              </a:rPr>
              <a:t>các</a:t>
            </a:r>
            <a:r>
              <a:rPr lang="en-US" sz="180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lang="en-US" sz="1800" err="1">
                <a:solidFill>
                  <a:srgbClr val="000066"/>
                </a:solidFill>
                <a:latin typeface="Arial"/>
                <a:cs typeface="Arial"/>
              </a:rPr>
              <a:t>công</a:t>
            </a:r>
            <a:r>
              <a:rPr lang="en-US" sz="180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lang="en-US" sz="1800" err="1">
                <a:solidFill>
                  <a:srgbClr val="000066"/>
                </a:solidFill>
                <a:latin typeface="Arial"/>
                <a:cs typeface="Arial"/>
              </a:rPr>
              <a:t>cụ</a:t>
            </a:r>
            <a:r>
              <a:rPr lang="en-US" sz="180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lang="en-US" sz="1800" err="1">
                <a:solidFill>
                  <a:srgbClr val="000066"/>
                </a:solidFill>
                <a:latin typeface="Arial"/>
                <a:cs typeface="Arial"/>
              </a:rPr>
              <a:t>hỗ</a:t>
            </a:r>
            <a:r>
              <a:rPr lang="en-US" sz="180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lang="en-US" sz="1800" err="1">
                <a:solidFill>
                  <a:srgbClr val="000066"/>
                </a:solidFill>
                <a:latin typeface="Arial"/>
                <a:cs typeface="Arial"/>
              </a:rPr>
              <a:t>trợ</a:t>
            </a:r>
            <a:r>
              <a:rPr lang="en-US" sz="180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lang="en-US" sz="1800" err="1">
                <a:solidFill>
                  <a:srgbClr val="000066"/>
                </a:solidFill>
                <a:latin typeface="Arial"/>
                <a:cs typeface="Arial"/>
              </a:rPr>
              <a:t>tạo</a:t>
            </a:r>
            <a:r>
              <a:rPr lang="en-US" sz="180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lang="en-US" sz="1800" err="1">
                <a:solidFill>
                  <a:srgbClr val="000066"/>
                </a:solidFill>
                <a:latin typeface="Arial"/>
                <a:cs typeface="Arial"/>
              </a:rPr>
              <a:t>bảng</a:t>
            </a:r>
            <a:r>
              <a:rPr lang="en-US" sz="1800">
                <a:solidFill>
                  <a:srgbClr val="000066"/>
                </a:solidFill>
                <a:latin typeface="Arial"/>
                <a:cs typeface="Arial"/>
              </a:rPr>
              <a:t>, </a:t>
            </a:r>
            <a:r>
              <a:rPr lang="en-US" sz="1800" err="1">
                <a:solidFill>
                  <a:srgbClr val="000066"/>
                </a:solidFill>
                <a:latin typeface="Arial"/>
                <a:cs typeface="Arial"/>
              </a:rPr>
              <a:t>ví</a:t>
            </a:r>
            <a:r>
              <a:rPr lang="en-US" sz="180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lang="en-US" sz="1800" err="1">
                <a:solidFill>
                  <a:srgbClr val="000066"/>
                </a:solidFill>
                <a:latin typeface="Arial"/>
                <a:cs typeface="Arial"/>
              </a:rPr>
              <a:t>dụ</a:t>
            </a:r>
            <a:r>
              <a:rPr lang="en-US" sz="1800">
                <a:solidFill>
                  <a:srgbClr val="000066"/>
                </a:solidFill>
                <a:latin typeface="Arial"/>
                <a:cs typeface="Arial"/>
              </a:rPr>
              <a:t>: </a:t>
            </a:r>
            <a:r>
              <a:rPr lang="en-US" sz="1800">
                <a:solidFill>
                  <a:srgbClr val="FF0000"/>
                </a:solidFill>
                <a:latin typeface="Arial"/>
                <a:cs typeface="Arial"/>
              </a:rPr>
              <a:t>https://www.tablesgenerator.com/</a:t>
            </a:r>
            <a:endParaRPr lang="en-US" sz="1800">
              <a:solidFill>
                <a:srgbClr val="FF0000"/>
              </a:solidFill>
            </a:endParaRPr>
          </a:p>
          <a:p>
            <a:pPr marL="457200" lvl="1" indent="0">
              <a:buNone/>
            </a:pPr>
            <a:endParaRPr lang="en-US" sz="1600">
              <a:solidFill>
                <a:srgbClr val="000066"/>
              </a:solidFill>
            </a:endParaRPr>
          </a:p>
          <a:p>
            <a:pPr marL="0" indent="0">
              <a:buNone/>
            </a:pPr>
            <a:endParaRPr 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</a:endParaRPr>
          </a:p>
          <a:p>
            <a:pPr marL="0" indent="0">
              <a:buNone/>
            </a:pPr>
            <a:r>
              <a:rPr lang="en-US" altLang="en-US" sz="1600">
                <a:solidFill>
                  <a:srgbClr val="000066"/>
                </a:solidFill>
                <a:latin typeface="Arial"/>
                <a:cs typeface="Arial"/>
              </a:rPr>
              <a:t>	</a:t>
            </a:r>
          </a:p>
          <a:p>
            <a:pPr marL="457200" lvl="1" indent="0">
              <a:buNone/>
            </a:pPr>
            <a:endParaRPr lang="en-US" altLang="en-US" sz="1600">
              <a:solidFill>
                <a:srgbClr val="00006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107DFC-06B2-4279-988D-3F57B09CE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52" y="1786390"/>
            <a:ext cx="7892889" cy="4290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2345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0D1D9B-DE9C-47A5-BE79-2E0B24C36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dirty="0" smtClean="0"/>
              <a:pPr>
                <a:defRPr/>
              </a:pPr>
              <a:t>25</a:t>
            </a:fld>
            <a:endParaRPr lang="en-US" altLang="en-US"/>
          </a:p>
        </p:txBody>
      </p:sp>
      <p:sp>
        <p:nvSpPr>
          <p:cNvPr id="8519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/>
              <a:t>P</a:t>
            </a:r>
            <a:r>
              <a:rPr lang="vi-VN" altLang="en-US"/>
              <a:t>HƯƠNG TRÌNH/CÔNG THỨC TOÁN HỌC</a:t>
            </a:r>
            <a:r>
              <a:rPr lang="en-US" altLang="en-US"/>
              <a:t>(1)</a:t>
            </a:r>
          </a:p>
        </p:txBody>
      </p:sp>
      <p:sp>
        <p:nvSpPr>
          <p:cNvPr id="851973" name="Rectangle 3"/>
          <p:cNvSpPr>
            <a:spLocks noChangeArrowheads="1"/>
          </p:cNvSpPr>
          <p:nvPr/>
        </p:nvSpPr>
        <p:spPr bwMode="auto">
          <a:xfrm>
            <a:off x="359797" y="685800"/>
            <a:ext cx="84582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33CC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9pPr>
          </a:lstStyle>
          <a:p>
            <a:r>
              <a:rPr lang="vi-VN" sz="2000">
                <a:solidFill>
                  <a:srgbClr val="000066"/>
                </a:solidFill>
              </a:rPr>
              <a:t>Các gói amsmath, amssymb, amsfonts hỗ trợ viết phương trình/công thức toán học </a:t>
            </a:r>
            <a:r>
              <a:rPr lang="en-US" sz="2000">
                <a:solidFill>
                  <a:srgbClr val="000066"/>
                </a:solidFill>
                <a:sym typeface="Wingdings" panose="05000000000000000000" pitchFamily="2" charset="2"/>
              </a:rPr>
              <a:t></a:t>
            </a:r>
            <a:r>
              <a:rPr lang="vi-VN" sz="2000">
                <a:solidFill>
                  <a:srgbClr val="000066"/>
                </a:solidFill>
              </a:rPr>
              <a:t> được bổ sung sẵn ở phần đầu của file main.tex</a:t>
            </a:r>
            <a:endParaRPr lang="en-US" sz="2000">
              <a:solidFill>
                <a:srgbClr val="000066"/>
              </a:solidFill>
            </a:endParaRPr>
          </a:p>
          <a:p>
            <a:r>
              <a:rPr lang="en-US" altLang="en-US" sz="2000" err="1">
                <a:solidFill>
                  <a:srgbClr val="000066"/>
                </a:solidFill>
              </a:rPr>
              <a:t>Trình</a:t>
            </a:r>
            <a:r>
              <a:rPr lang="en-US" altLang="en-US" sz="2000">
                <a:solidFill>
                  <a:srgbClr val="000066"/>
                </a:solidFill>
              </a:rPr>
              <a:t> </a:t>
            </a:r>
            <a:r>
              <a:rPr lang="en-US" altLang="en-US" sz="2000" err="1">
                <a:solidFill>
                  <a:srgbClr val="000066"/>
                </a:solidFill>
              </a:rPr>
              <a:t>bày</a:t>
            </a:r>
            <a:r>
              <a:rPr lang="en-US" altLang="en-US" sz="2000">
                <a:solidFill>
                  <a:srgbClr val="000066"/>
                </a:solidFill>
              </a:rPr>
              <a:t> </a:t>
            </a:r>
            <a:r>
              <a:rPr lang="vi-VN" altLang="en-US" sz="2000">
                <a:solidFill>
                  <a:srgbClr val="000066"/>
                </a:solidFill>
              </a:rPr>
              <a:t>phương trình toán học qua hai hình thức: hiển thị nội dòng (inline mode) và hiển thị riêng ra dòng mới (display mode)</a:t>
            </a:r>
            <a:endParaRPr lang="en-US" altLang="en-US" sz="2000">
              <a:solidFill>
                <a:srgbClr val="000066"/>
              </a:solidFill>
            </a:endParaRPr>
          </a:p>
          <a:p>
            <a:r>
              <a:rPr lang="vi-VN" altLang="en-US" sz="2000">
                <a:solidFill>
                  <a:srgbClr val="000066"/>
                </a:solidFill>
              </a:rPr>
              <a:t>Hiển thị nội dòng </a:t>
            </a:r>
            <a:r>
              <a:rPr lang="en-US" altLang="en-US" sz="2000">
                <a:solidFill>
                  <a:srgbClr val="000066"/>
                </a:solidFill>
                <a:sym typeface="Wingdings" panose="05000000000000000000" pitchFamily="2" charset="2"/>
              </a:rPr>
              <a:t> </a:t>
            </a:r>
            <a:r>
              <a:rPr lang="vi-VN" altLang="en-US" sz="2000">
                <a:solidFill>
                  <a:srgbClr val="000066"/>
                </a:solidFill>
              </a:rPr>
              <a:t>sử dụng để viết công thức là một phần của văn bản</a:t>
            </a:r>
            <a:endParaRPr lang="en-US" altLang="en-US" sz="2000">
              <a:solidFill>
                <a:srgbClr val="000066"/>
              </a:solidFill>
            </a:endParaRPr>
          </a:p>
          <a:p>
            <a:pPr lvl="1"/>
            <a:r>
              <a:rPr lang="en-US" altLang="en-US" sz="1800" err="1">
                <a:solidFill>
                  <a:srgbClr val="000066"/>
                </a:solidFill>
              </a:rPr>
              <a:t>Sử</a:t>
            </a:r>
            <a:r>
              <a:rPr lang="en-US" altLang="en-US" sz="1800">
                <a:solidFill>
                  <a:srgbClr val="000066"/>
                </a:solidFill>
              </a:rPr>
              <a:t> </a:t>
            </a:r>
            <a:r>
              <a:rPr lang="en-US" altLang="en-US" sz="1800" err="1">
                <a:solidFill>
                  <a:srgbClr val="000066"/>
                </a:solidFill>
              </a:rPr>
              <a:t>dụng</a:t>
            </a:r>
            <a:r>
              <a:rPr lang="en-US" altLang="en-US" sz="1800">
                <a:solidFill>
                  <a:srgbClr val="000066"/>
                </a:solidFill>
              </a:rPr>
              <a:t> </a:t>
            </a:r>
            <a:r>
              <a:rPr lang="en-US" altLang="en-US" sz="1800" err="1">
                <a:solidFill>
                  <a:srgbClr val="000066"/>
                </a:solidFill>
              </a:rPr>
              <a:t>một</a:t>
            </a:r>
            <a:r>
              <a:rPr lang="en-US" altLang="en-US" sz="1800">
                <a:solidFill>
                  <a:srgbClr val="000066"/>
                </a:solidFill>
              </a:rPr>
              <a:t> </a:t>
            </a:r>
            <a:r>
              <a:rPr lang="en-US" altLang="en-US" sz="1800" err="1">
                <a:solidFill>
                  <a:srgbClr val="000066"/>
                </a:solidFill>
              </a:rPr>
              <a:t>trong</a:t>
            </a:r>
            <a:r>
              <a:rPr lang="en-US" altLang="en-US" sz="1800">
                <a:solidFill>
                  <a:srgbClr val="000066"/>
                </a:solidFill>
              </a:rPr>
              <a:t> </a:t>
            </a:r>
            <a:r>
              <a:rPr lang="en-US" altLang="en-US" sz="1800" err="1">
                <a:solidFill>
                  <a:srgbClr val="000066"/>
                </a:solidFill>
              </a:rPr>
              <a:t>các</a:t>
            </a:r>
            <a:r>
              <a:rPr lang="en-US" altLang="en-US" sz="1800">
                <a:solidFill>
                  <a:srgbClr val="000066"/>
                </a:solidFill>
              </a:rPr>
              <a:t> </a:t>
            </a:r>
            <a:r>
              <a:rPr lang="en-US" altLang="en-US" sz="1800" err="1">
                <a:solidFill>
                  <a:srgbClr val="000066"/>
                </a:solidFill>
              </a:rPr>
              <a:t>cách</a:t>
            </a:r>
            <a:r>
              <a:rPr lang="en-US" altLang="en-US" sz="1800">
                <a:solidFill>
                  <a:srgbClr val="000066"/>
                </a:solidFill>
              </a:rPr>
              <a:t> </a:t>
            </a:r>
            <a:r>
              <a:rPr lang="en-US" altLang="en-US" sz="1800" err="1">
                <a:solidFill>
                  <a:srgbClr val="000066"/>
                </a:solidFill>
              </a:rPr>
              <a:t>khai</a:t>
            </a:r>
            <a:r>
              <a:rPr lang="en-US" altLang="en-US" sz="1800">
                <a:solidFill>
                  <a:srgbClr val="000066"/>
                </a:solidFill>
              </a:rPr>
              <a:t> </a:t>
            </a:r>
            <a:r>
              <a:rPr lang="en-US" altLang="en-US" sz="1800" err="1">
                <a:solidFill>
                  <a:srgbClr val="000066"/>
                </a:solidFill>
              </a:rPr>
              <a:t>báo</a:t>
            </a:r>
            <a:r>
              <a:rPr lang="en-US" altLang="en-US" sz="1800">
                <a:solidFill>
                  <a:srgbClr val="000066"/>
                </a:solidFill>
              </a:rPr>
              <a:t> </a:t>
            </a:r>
            <a:r>
              <a:rPr lang="en-US" altLang="en-US" sz="1800" err="1">
                <a:solidFill>
                  <a:srgbClr val="000066"/>
                </a:solidFill>
              </a:rPr>
              <a:t>sau</a:t>
            </a:r>
            <a:r>
              <a:rPr lang="en-US" altLang="en-US" sz="1800">
                <a:solidFill>
                  <a:srgbClr val="000066"/>
                </a:solidFill>
              </a:rPr>
              <a:t>: \( ... \), $ ... $ </a:t>
            </a:r>
            <a:r>
              <a:rPr lang="en-US" altLang="en-US" sz="1800" err="1">
                <a:solidFill>
                  <a:srgbClr val="000066"/>
                </a:solidFill>
              </a:rPr>
              <a:t>hoặc</a:t>
            </a:r>
            <a:r>
              <a:rPr lang="en-US" altLang="en-US" sz="1800">
                <a:solidFill>
                  <a:srgbClr val="000066"/>
                </a:solidFill>
              </a:rPr>
              <a:t> \begin{math} ... \end{math} </a:t>
            </a:r>
          </a:p>
          <a:p>
            <a:pPr lvl="1"/>
            <a:endParaRPr lang="en-US" altLang="en-US" sz="1600">
              <a:solidFill>
                <a:srgbClr val="000066"/>
              </a:solidFill>
            </a:endParaRPr>
          </a:p>
          <a:p>
            <a:pPr marL="0" indent="0">
              <a:buNone/>
            </a:pPr>
            <a:endParaRPr lang="en-US" altLang="en-US" sz="2000">
              <a:solidFill>
                <a:srgbClr val="000066"/>
              </a:solidFill>
            </a:endParaRPr>
          </a:p>
          <a:p>
            <a:pPr marL="457200" lvl="1" indent="0">
              <a:buNone/>
            </a:pPr>
            <a:endParaRPr lang="en-US" altLang="en-US" sz="1600">
              <a:solidFill>
                <a:srgbClr val="000066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A0FD769-56E5-4509-B29D-5A16227EB20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47" y="3581400"/>
            <a:ext cx="6395499" cy="914400"/>
          </a:xfrm>
          <a:prstGeom prst="rect">
            <a:avLst/>
          </a:prstGeom>
          <a:ln w="22225">
            <a:solidFill>
              <a:srgbClr val="00B050"/>
            </a:solidFill>
            <a:tailEnd type="triangle"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4612D2C-8C51-47B5-B491-B20705A3DFD3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5043459"/>
            <a:ext cx="6019800" cy="639763"/>
          </a:xfrm>
          <a:prstGeom prst="rect">
            <a:avLst/>
          </a:prstGeom>
          <a:ln w="22225">
            <a:solidFill>
              <a:srgbClr val="00B050"/>
            </a:solidFill>
            <a:tailEnd type="triangle"/>
          </a:ln>
        </p:spPr>
      </p:pic>
      <p:sp>
        <p:nvSpPr>
          <p:cNvPr id="7" name="Arrow: Curved Left 6">
            <a:extLst>
              <a:ext uri="{FF2B5EF4-FFF2-40B4-BE49-F238E27FC236}">
                <a16:creationId xmlns:a16="http://schemas.microsoft.com/office/drawing/2014/main" id="{2FE8A75E-3138-4933-BBAE-8F2E6BAF0D99}"/>
              </a:ext>
            </a:extLst>
          </p:cNvPr>
          <p:cNvSpPr/>
          <p:nvPr/>
        </p:nvSpPr>
        <p:spPr>
          <a:xfrm>
            <a:off x="6858000" y="3810000"/>
            <a:ext cx="838200" cy="114300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80946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0D1D9B-DE9C-47A5-BE79-2E0B24C36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  <p:sp>
        <p:nvSpPr>
          <p:cNvPr id="8519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/>
              <a:t>P</a:t>
            </a:r>
            <a:r>
              <a:rPr lang="vi-VN" altLang="en-US"/>
              <a:t>HƯƠNG TRÌNH/CÔNG THỨC TOÁN HỌC</a:t>
            </a:r>
            <a:r>
              <a:rPr lang="en-US" altLang="en-US"/>
              <a:t>(2)</a:t>
            </a:r>
          </a:p>
        </p:txBody>
      </p:sp>
      <p:sp>
        <p:nvSpPr>
          <p:cNvPr id="851973" name="Rectangle 3"/>
          <p:cNvSpPr>
            <a:spLocks noChangeArrowheads="1"/>
          </p:cNvSpPr>
          <p:nvPr/>
        </p:nvSpPr>
        <p:spPr bwMode="auto">
          <a:xfrm>
            <a:off x="359797" y="685800"/>
            <a:ext cx="84582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33CC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9pPr>
          </a:lstStyle>
          <a:p>
            <a:r>
              <a:rPr lang="vi-VN" sz="2000">
                <a:solidFill>
                  <a:srgbClr val="000066"/>
                </a:solidFill>
              </a:rPr>
              <a:t>Hiển thị riêng ra dòng mới: được sử dụng để viết các công thức toán học trên các dòng riêng biệt</a:t>
            </a:r>
            <a:endParaRPr lang="en-US" sz="2000">
              <a:solidFill>
                <a:srgbClr val="000066"/>
              </a:solidFill>
            </a:endParaRPr>
          </a:p>
          <a:p>
            <a:pPr lvl="1"/>
            <a:r>
              <a:rPr lang="en-US" sz="1800">
                <a:solidFill>
                  <a:srgbClr val="000066"/>
                </a:solidFill>
              </a:rPr>
              <a:t>S</a:t>
            </a:r>
            <a:r>
              <a:rPr lang="vi-VN" sz="1800">
                <a:solidFill>
                  <a:srgbClr val="000066"/>
                </a:solidFill>
              </a:rPr>
              <a:t>ử dụng một trong các cách khai báo sau: \[ ... \], \begin{displaymath} ... \end{displaymath} hoặc \begin{equation} ... \end{equation}</a:t>
            </a:r>
          </a:p>
          <a:p>
            <a:pPr lvl="1"/>
            <a:r>
              <a:rPr lang="vi-VN" sz="1800">
                <a:solidFill>
                  <a:srgbClr val="000066"/>
                </a:solidFill>
              </a:rPr>
              <a:t>Display mode có hai loại: numbered và unnumbered</a:t>
            </a:r>
            <a:endParaRPr lang="en-US" sz="1800">
              <a:solidFill>
                <a:srgbClr val="000066"/>
              </a:solidFill>
            </a:endParaRP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lvl="1"/>
            <a:r>
              <a:rPr lang="en-US" sz="1800" err="1">
                <a:solidFill>
                  <a:srgbClr val="000066"/>
                </a:solidFill>
              </a:rPr>
              <a:t>Có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thể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tìm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hiểu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sâu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hơn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về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cách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viết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phương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trình</a:t>
            </a:r>
            <a:r>
              <a:rPr lang="en-US" sz="1800">
                <a:solidFill>
                  <a:srgbClr val="000066"/>
                </a:solidFill>
              </a:rPr>
              <a:t>/</a:t>
            </a:r>
            <a:r>
              <a:rPr lang="en-US" sz="1800" err="1">
                <a:solidFill>
                  <a:srgbClr val="000066"/>
                </a:solidFill>
              </a:rPr>
              <a:t>công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thức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toán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học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tại</a:t>
            </a:r>
            <a:endParaRPr lang="en-US" sz="1800">
              <a:solidFill>
                <a:srgbClr val="000066"/>
              </a:solidFill>
            </a:endParaRPr>
          </a:p>
          <a:p>
            <a:pPr marL="457200" lvl="1" indent="0">
              <a:buNone/>
            </a:pP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>
                <a:solidFill>
                  <a:srgbClr val="FF0000"/>
                </a:solidFill>
              </a:rPr>
              <a:t>https://www.overleaf.com/learn/latex/Mathematical_expressions</a:t>
            </a:r>
          </a:p>
          <a:p>
            <a:pPr lvl="1"/>
            <a:endParaRPr lang="vi-VN" sz="1800">
              <a:solidFill>
                <a:srgbClr val="000066"/>
              </a:solidFill>
            </a:endParaRPr>
          </a:p>
          <a:p>
            <a:endParaRPr lang="en-US" altLang="en-US" sz="1600">
              <a:solidFill>
                <a:srgbClr val="000066"/>
              </a:solidFill>
            </a:endParaRPr>
          </a:p>
          <a:p>
            <a:pPr marL="457200" lvl="1" indent="0">
              <a:buNone/>
            </a:pPr>
            <a:endParaRPr lang="en-US" altLang="en-US" sz="1600">
              <a:solidFill>
                <a:srgbClr val="000066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C61A75-5305-48A1-8DF6-C2DB92278A4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2428399"/>
            <a:ext cx="4953000" cy="1328420"/>
          </a:xfrm>
          <a:prstGeom prst="rect">
            <a:avLst/>
          </a:prstGeom>
          <a:ln w="22225">
            <a:solidFill>
              <a:srgbClr val="00B050"/>
            </a:solidFill>
            <a:tailEnd type="triangle"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980614-D722-4D32-894E-B073DF2AB2C6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4038600"/>
            <a:ext cx="5198110" cy="1328420"/>
          </a:xfrm>
          <a:prstGeom prst="rect">
            <a:avLst/>
          </a:prstGeom>
          <a:ln w="22225">
            <a:solidFill>
              <a:srgbClr val="00B050"/>
            </a:solidFill>
            <a:tailEnd type="triangle"/>
          </a:ln>
        </p:spPr>
      </p:pic>
      <p:sp>
        <p:nvSpPr>
          <p:cNvPr id="7" name="Arrow: Curved Left 6">
            <a:extLst>
              <a:ext uri="{FF2B5EF4-FFF2-40B4-BE49-F238E27FC236}">
                <a16:creationId xmlns:a16="http://schemas.microsoft.com/office/drawing/2014/main" id="{C4D8412A-DF60-441E-AE90-AE6B42FAFEF5}"/>
              </a:ext>
            </a:extLst>
          </p:cNvPr>
          <p:cNvSpPr/>
          <p:nvPr/>
        </p:nvSpPr>
        <p:spPr>
          <a:xfrm>
            <a:off x="6457950" y="2857500"/>
            <a:ext cx="838200" cy="114300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67978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0D1D9B-DE9C-47A5-BE79-2E0B24C36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  <p:sp>
        <p:nvSpPr>
          <p:cNvPr id="8519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/>
              <a:t>P</a:t>
            </a:r>
            <a:r>
              <a:rPr lang="vi-VN" altLang="en-US"/>
              <a:t>HƯƠNG TRÌNH/CÔNG THỨC TOÁN HỌC</a:t>
            </a:r>
            <a:r>
              <a:rPr lang="en-US" altLang="en-US"/>
              <a:t>(3)</a:t>
            </a:r>
          </a:p>
        </p:txBody>
      </p:sp>
      <p:sp>
        <p:nvSpPr>
          <p:cNvPr id="851973" name="Rectangle 3"/>
          <p:cNvSpPr>
            <a:spLocks noChangeArrowheads="1"/>
          </p:cNvSpPr>
          <p:nvPr/>
        </p:nvSpPr>
        <p:spPr bwMode="auto">
          <a:xfrm>
            <a:off x="359797" y="685800"/>
            <a:ext cx="84582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33CC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 err="1">
                <a:solidFill>
                  <a:srgbClr val="000066"/>
                </a:solidFill>
              </a:rPr>
              <a:t>Một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số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công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cụ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hỗ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trợ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viết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công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thức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toán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học</a:t>
            </a:r>
            <a:r>
              <a:rPr lang="en-US" sz="2000">
                <a:solidFill>
                  <a:srgbClr val="000066"/>
                </a:solidFill>
              </a:rPr>
              <a:t> vi </a:t>
            </a:r>
            <a:r>
              <a:rPr lang="en-US" sz="2000" err="1">
                <a:solidFill>
                  <a:srgbClr val="000066"/>
                </a:solidFill>
              </a:rPr>
              <a:t>dụ</a:t>
            </a:r>
            <a:r>
              <a:rPr lang="en-US" sz="2000">
                <a:solidFill>
                  <a:srgbClr val="000066"/>
                </a:solidFill>
              </a:rPr>
              <a:t>: </a:t>
            </a:r>
            <a:r>
              <a:rPr lang="en-US" sz="2000">
                <a:solidFill>
                  <a:srgbClr val="FF0000"/>
                </a:solidFill>
              </a:rPr>
              <a:t>https://latex.codecogs.com/</a:t>
            </a:r>
          </a:p>
          <a:p>
            <a:pPr marL="0" indent="0">
              <a:buNone/>
            </a:pPr>
            <a:r>
              <a:rPr lang="en-US" sz="2000">
                <a:solidFill>
                  <a:srgbClr val="000066"/>
                </a:solidFill>
              </a:rPr>
              <a:t>  </a:t>
            </a:r>
          </a:p>
          <a:p>
            <a:pPr marL="0" indent="0">
              <a:buNone/>
            </a:pPr>
            <a:r>
              <a:rPr lang="en-US" sz="2000">
                <a:solidFill>
                  <a:srgbClr val="000066"/>
                </a:solidFill>
              </a:rPr>
              <a:t>      </a:t>
            </a:r>
            <a:endParaRPr lang="en-US" sz="1800">
              <a:solidFill>
                <a:srgbClr val="000066"/>
              </a:solidFill>
            </a:endParaRP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marL="457200" lvl="1" indent="0">
              <a:buNone/>
            </a:pPr>
            <a:endParaRPr lang="vi-VN" sz="1800">
              <a:solidFill>
                <a:srgbClr val="000066"/>
              </a:solidFill>
            </a:endParaRPr>
          </a:p>
          <a:p>
            <a:endParaRPr lang="en-US" altLang="en-US" sz="1600">
              <a:solidFill>
                <a:srgbClr val="000066"/>
              </a:solidFill>
            </a:endParaRPr>
          </a:p>
          <a:p>
            <a:pPr marL="457200" lvl="1" indent="0">
              <a:buNone/>
            </a:pPr>
            <a:endParaRPr lang="en-US" altLang="en-US" sz="1600">
              <a:solidFill>
                <a:srgbClr val="00006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06CBD8-1EA1-423F-8CC1-3A2B68C62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797" y="1748413"/>
            <a:ext cx="8066490" cy="418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8480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0D1D9B-DE9C-47A5-BE79-2E0B24C36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  <p:sp>
        <p:nvSpPr>
          <p:cNvPr id="8519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600"/>
              <a:t>ĐÁNH DẤU VÀ ĐÁNH SỐ (1)</a:t>
            </a:r>
          </a:p>
        </p:txBody>
      </p:sp>
      <p:sp>
        <p:nvSpPr>
          <p:cNvPr id="851973" name="Rectangle 3"/>
          <p:cNvSpPr>
            <a:spLocks noChangeArrowheads="1"/>
          </p:cNvSpPr>
          <p:nvPr/>
        </p:nvSpPr>
        <p:spPr bwMode="auto">
          <a:xfrm>
            <a:off x="359797" y="685800"/>
            <a:ext cx="84582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33CC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 err="1">
                <a:solidFill>
                  <a:srgbClr val="000066"/>
                </a:solidFill>
              </a:rPr>
              <a:t>Đánh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dấu</a:t>
            </a:r>
            <a:r>
              <a:rPr lang="en-US" sz="2000">
                <a:solidFill>
                  <a:srgbClr val="000066"/>
                </a:solidFill>
              </a:rPr>
              <a:t> (bullet) </a:t>
            </a:r>
            <a:r>
              <a:rPr lang="en-US" sz="2000" err="1">
                <a:solidFill>
                  <a:srgbClr val="000066"/>
                </a:solidFill>
              </a:rPr>
              <a:t>là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kiểu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liệt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kê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không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có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thứ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tự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trong</a:t>
            </a:r>
            <a:r>
              <a:rPr lang="en-US" sz="2000">
                <a:solidFill>
                  <a:srgbClr val="000066"/>
                </a:solidFill>
              </a:rPr>
              <a:t> LaTeX</a:t>
            </a:r>
          </a:p>
          <a:p>
            <a:pPr lvl="1"/>
            <a:r>
              <a:rPr lang="en-US" sz="1800">
                <a:solidFill>
                  <a:srgbClr val="000066"/>
                </a:solidFill>
              </a:rPr>
              <a:t>S</a:t>
            </a:r>
            <a:r>
              <a:rPr lang="vi-VN" sz="1800">
                <a:solidFill>
                  <a:srgbClr val="000066"/>
                </a:solidFill>
              </a:rPr>
              <a:t>ử dụng một trong các cách khai báo sau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vi-VN" sz="1800">
                <a:solidFill>
                  <a:srgbClr val="000066"/>
                </a:solidFill>
              </a:rPr>
              <a:t> \begin{</a:t>
            </a:r>
            <a:r>
              <a:rPr lang="en-US" sz="1800">
                <a:solidFill>
                  <a:srgbClr val="000066"/>
                </a:solidFill>
              </a:rPr>
              <a:t>itemize</a:t>
            </a:r>
            <a:r>
              <a:rPr lang="vi-VN" sz="1800">
                <a:solidFill>
                  <a:srgbClr val="000066"/>
                </a:solidFill>
              </a:rPr>
              <a:t>} ... \end{</a:t>
            </a:r>
            <a:r>
              <a:rPr lang="en-US" sz="1800">
                <a:solidFill>
                  <a:srgbClr val="000066"/>
                </a:solidFill>
              </a:rPr>
              <a:t>itemize</a:t>
            </a:r>
            <a:r>
              <a:rPr lang="vi-VN" sz="1800">
                <a:solidFill>
                  <a:srgbClr val="000066"/>
                </a:solidFill>
              </a:rPr>
              <a:t>}</a:t>
            </a:r>
          </a:p>
          <a:p>
            <a:pPr lvl="1"/>
            <a:r>
              <a:rPr lang="en-US" sz="1800">
                <a:solidFill>
                  <a:srgbClr val="000066"/>
                </a:solidFill>
              </a:rPr>
              <a:t>Sau </a:t>
            </a:r>
            <a:r>
              <a:rPr lang="en-US" sz="1800" err="1">
                <a:solidFill>
                  <a:srgbClr val="000066"/>
                </a:solidFill>
              </a:rPr>
              <a:t>mỗi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lệnh</a:t>
            </a:r>
            <a:r>
              <a:rPr lang="en-US" sz="1800">
                <a:solidFill>
                  <a:srgbClr val="000066"/>
                </a:solidFill>
              </a:rPr>
              <a:t> \item </a:t>
            </a:r>
            <a:r>
              <a:rPr lang="en-US" sz="1800" err="1">
                <a:solidFill>
                  <a:srgbClr val="000066"/>
                </a:solidFill>
              </a:rPr>
              <a:t>là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một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nội</a:t>
            </a:r>
            <a:r>
              <a:rPr lang="en-US" sz="1800">
                <a:solidFill>
                  <a:srgbClr val="000066"/>
                </a:solidFill>
              </a:rPr>
              <a:t> dung</a:t>
            </a: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marL="457200" lvl="1" indent="0">
              <a:buNone/>
            </a:pPr>
            <a:endParaRPr lang="en-US" sz="1800">
              <a:solidFill>
                <a:srgbClr val="000066"/>
              </a:solidFill>
            </a:endParaRP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marL="457200" lvl="1" indent="0">
              <a:buNone/>
            </a:pPr>
            <a:endParaRPr lang="en-US" sz="1800">
              <a:solidFill>
                <a:srgbClr val="000066"/>
              </a:solidFill>
            </a:endParaRPr>
          </a:p>
          <a:p>
            <a:pPr marL="457200" lvl="1" indent="0">
              <a:buNone/>
            </a:pPr>
            <a:endParaRPr lang="en-US" sz="1800">
              <a:solidFill>
                <a:srgbClr val="FF0000"/>
              </a:solidFill>
            </a:endParaRPr>
          </a:p>
          <a:p>
            <a:pPr lvl="1"/>
            <a:endParaRPr lang="vi-VN" sz="1800">
              <a:solidFill>
                <a:srgbClr val="000066"/>
              </a:solidFill>
            </a:endParaRPr>
          </a:p>
          <a:p>
            <a:endParaRPr lang="en-US" altLang="en-US" sz="1600">
              <a:solidFill>
                <a:srgbClr val="000066"/>
              </a:solidFill>
            </a:endParaRPr>
          </a:p>
          <a:p>
            <a:pPr marL="457200" lvl="1" indent="0">
              <a:buNone/>
            </a:pPr>
            <a:endParaRPr lang="en-US" altLang="en-US" sz="1600">
              <a:solidFill>
                <a:srgbClr val="000066"/>
              </a:solidFill>
            </a:endParaRPr>
          </a:p>
        </p:txBody>
      </p:sp>
      <p:sp>
        <p:nvSpPr>
          <p:cNvPr id="7" name="Arrow: Curved Left 6">
            <a:extLst>
              <a:ext uri="{FF2B5EF4-FFF2-40B4-BE49-F238E27FC236}">
                <a16:creationId xmlns:a16="http://schemas.microsoft.com/office/drawing/2014/main" id="{C4D8412A-DF60-441E-AE90-AE6B42FAFEF5}"/>
              </a:ext>
            </a:extLst>
          </p:cNvPr>
          <p:cNvSpPr/>
          <p:nvPr/>
        </p:nvSpPr>
        <p:spPr>
          <a:xfrm>
            <a:off x="6259861" y="3056730"/>
            <a:ext cx="983954" cy="1294205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6A27A5-8B5E-41B6-8844-D7D7A3695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886" y="3801270"/>
            <a:ext cx="4752975" cy="1209675"/>
          </a:xfrm>
          <a:prstGeom prst="rect">
            <a:avLst/>
          </a:prstGeom>
          <a:ln w="22225">
            <a:solidFill>
              <a:srgbClr val="00B050"/>
            </a:solidFill>
            <a:tailEnd type="triangle"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7D50F9-2BD8-4608-9486-564574EFB4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11" y="1878230"/>
            <a:ext cx="6762750" cy="1266825"/>
          </a:xfrm>
          <a:prstGeom prst="rect">
            <a:avLst/>
          </a:prstGeom>
          <a:ln w="22225">
            <a:solidFill>
              <a:srgbClr val="00B050"/>
            </a:solidFill>
            <a:tailEnd type="triangle"/>
          </a:ln>
        </p:spPr>
      </p:pic>
    </p:spTree>
    <p:extLst>
      <p:ext uri="{BB962C8B-B14F-4D97-AF65-F5344CB8AC3E}">
        <p14:creationId xmlns:p14="http://schemas.microsoft.com/office/powerpoint/2010/main" val="31116947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0D1D9B-DE9C-47A5-BE79-2E0B24C36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  <p:sp>
        <p:nvSpPr>
          <p:cNvPr id="8519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600" err="1"/>
              <a:t>Đánh</a:t>
            </a:r>
            <a:r>
              <a:rPr lang="en-US" altLang="en-US" sz="3600"/>
              <a:t> </a:t>
            </a:r>
            <a:r>
              <a:rPr lang="en-US" altLang="en-US" sz="3600" err="1"/>
              <a:t>dấu</a:t>
            </a:r>
            <a:r>
              <a:rPr lang="en-US" altLang="en-US" sz="3600"/>
              <a:t> </a:t>
            </a:r>
            <a:r>
              <a:rPr lang="en-US" altLang="en-US" sz="3600" err="1"/>
              <a:t>và</a:t>
            </a:r>
            <a:r>
              <a:rPr lang="en-US" altLang="en-US" sz="3600"/>
              <a:t> </a:t>
            </a:r>
            <a:r>
              <a:rPr lang="en-US" altLang="en-US" sz="3600" err="1"/>
              <a:t>đánh</a:t>
            </a:r>
            <a:r>
              <a:rPr lang="en-US" altLang="en-US" sz="3600"/>
              <a:t> </a:t>
            </a:r>
            <a:r>
              <a:rPr lang="en-US" altLang="en-US" sz="3600" err="1"/>
              <a:t>số</a:t>
            </a:r>
            <a:r>
              <a:rPr lang="en-US" altLang="en-US" sz="3600"/>
              <a:t>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DFA77-737A-E392-B8D3-D241FCB2A8F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51973" name="Rectangle 3"/>
          <p:cNvSpPr>
            <a:spLocks noChangeArrowheads="1"/>
          </p:cNvSpPr>
          <p:nvPr/>
        </p:nvSpPr>
        <p:spPr bwMode="auto">
          <a:xfrm>
            <a:off x="359797" y="685800"/>
            <a:ext cx="84582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33CC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 err="1">
                <a:solidFill>
                  <a:srgbClr val="000066"/>
                </a:solidFill>
              </a:rPr>
              <a:t>Đánh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số</a:t>
            </a:r>
            <a:r>
              <a:rPr lang="en-US" sz="2000">
                <a:solidFill>
                  <a:srgbClr val="000066"/>
                </a:solidFill>
              </a:rPr>
              <a:t> (</a:t>
            </a:r>
            <a:r>
              <a:rPr lang="en-US" sz="2000" err="1">
                <a:solidFill>
                  <a:srgbClr val="000066"/>
                </a:solidFill>
              </a:rPr>
              <a:t>numering</a:t>
            </a:r>
            <a:r>
              <a:rPr lang="en-US" sz="2000">
                <a:solidFill>
                  <a:srgbClr val="000066"/>
                </a:solidFill>
              </a:rPr>
              <a:t>) </a:t>
            </a:r>
            <a:r>
              <a:rPr lang="en-US" sz="2000" err="1">
                <a:solidFill>
                  <a:srgbClr val="000066"/>
                </a:solidFill>
              </a:rPr>
              <a:t>là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kiểu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liệt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kê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có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thứ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tự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trong</a:t>
            </a:r>
            <a:r>
              <a:rPr lang="en-US" sz="2000">
                <a:solidFill>
                  <a:srgbClr val="000066"/>
                </a:solidFill>
              </a:rPr>
              <a:t> LaTeX</a:t>
            </a:r>
          </a:p>
          <a:p>
            <a:pPr lvl="1"/>
            <a:r>
              <a:rPr lang="en-US" sz="1800">
                <a:solidFill>
                  <a:srgbClr val="000066"/>
                </a:solidFill>
              </a:rPr>
              <a:t>S</a:t>
            </a:r>
            <a:r>
              <a:rPr lang="vi-VN" sz="1800">
                <a:solidFill>
                  <a:srgbClr val="000066"/>
                </a:solidFill>
              </a:rPr>
              <a:t>ử dụng một trong các cách khai báo sau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vi-VN" sz="1800">
                <a:solidFill>
                  <a:srgbClr val="000066"/>
                </a:solidFill>
              </a:rPr>
              <a:t> \begin{</a:t>
            </a:r>
            <a:r>
              <a:rPr lang="en-US" sz="1800">
                <a:solidFill>
                  <a:srgbClr val="000066"/>
                </a:solidFill>
              </a:rPr>
              <a:t>enumerate</a:t>
            </a:r>
            <a:r>
              <a:rPr lang="vi-VN" sz="1800">
                <a:solidFill>
                  <a:srgbClr val="000066"/>
                </a:solidFill>
              </a:rPr>
              <a:t>} ... \end{</a:t>
            </a:r>
            <a:r>
              <a:rPr lang="en-US" sz="1800">
                <a:solidFill>
                  <a:srgbClr val="000066"/>
                </a:solidFill>
              </a:rPr>
              <a:t>enumerate</a:t>
            </a:r>
            <a:r>
              <a:rPr lang="vi-VN" sz="1800">
                <a:solidFill>
                  <a:srgbClr val="000066"/>
                </a:solidFill>
              </a:rPr>
              <a:t>}</a:t>
            </a:r>
          </a:p>
          <a:p>
            <a:pPr lvl="1"/>
            <a:r>
              <a:rPr lang="en-US" sz="1800">
                <a:solidFill>
                  <a:srgbClr val="000066"/>
                </a:solidFill>
              </a:rPr>
              <a:t>Sau </a:t>
            </a:r>
            <a:r>
              <a:rPr lang="en-US" sz="1800" err="1">
                <a:solidFill>
                  <a:srgbClr val="000066"/>
                </a:solidFill>
              </a:rPr>
              <a:t>mỗi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lệnh</a:t>
            </a:r>
            <a:r>
              <a:rPr lang="en-US" sz="1800">
                <a:solidFill>
                  <a:srgbClr val="000066"/>
                </a:solidFill>
              </a:rPr>
              <a:t> \item </a:t>
            </a:r>
            <a:r>
              <a:rPr lang="en-US" sz="1800" err="1">
                <a:solidFill>
                  <a:srgbClr val="000066"/>
                </a:solidFill>
              </a:rPr>
              <a:t>là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một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nội</a:t>
            </a:r>
            <a:r>
              <a:rPr lang="en-US" sz="1800">
                <a:solidFill>
                  <a:srgbClr val="000066"/>
                </a:solidFill>
              </a:rPr>
              <a:t> dung</a:t>
            </a: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lvl="1"/>
            <a:r>
              <a:rPr lang="en-US" sz="1800" err="1">
                <a:solidFill>
                  <a:srgbClr val="000066"/>
                </a:solidFill>
              </a:rPr>
              <a:t>Các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kiểu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liệt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kê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khác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có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thể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tham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khảo</a:t>
            </a:r>
            <a:r>
              <a:rPr lang="en-US" sz="1800">
                <a:solidFill>
                  <a:srgbClr val="000066"/>
                </a:solidFill>
              </a:rPr>
              <a:t> </a:t>
            </a:r>
            <a:r>
              <a:rPr lang="en-US" sz="1800" err="1">
                <a:solidFill>
                  <a:srgbClr val="000066"/>
                </a:solidFill>
              </a:rPr>
              <a:t>tại</a:t>
            </a:r>
            <a:endParaRPr lang="en-US" sz="1800">
              <a:solidFill>
                <a:srgbClr val="000066"/>
              </a:solidFill>
            </a:endParaRPr>
          </a:p>
          <a:p>
            <a:pPr marL="457200" lvl="1" indent="0">
              <a:buNone/>
            </a:pPr>
            <a:r>
              <a:rPr lang="en-US" sz="1800">
                <a:solidFill>
                  <a:srgbClr val="FF0000"/>
                </a:solidFill>
              </a:rPr>
              <a:t>https://www.overleaf.com/learn/latex/Lists</a:t>
            </a: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marL="457200" lvl="1" indent="0">
              <a:buNone/>
            </a:pPr>
            <a:endParaRPr lang="en-US" sz="1800">
              <a:solidFill>
                <a:srgbClr val="000066"/>
              </a:solidFill>
            </a:endParaRPr>
          </a:p>
          <a:p>
            <a:pPr lvl="1"/>
            <a:endParaRPr lang="en-US" sz="1800">
              <a:solidFill>
                <a:srgbClr val="000066"/>
              </a:solidFill>
            </a:endParaRPr>
          </a:p>
          <a:p>
            <a:pPr marL="457200" lvl="1" indent="0">
              <a:buNone/>
            </a:pPr>
            <a:endParaRPr lang="en-US" sz="1800">
              <a:solidFill>
                <a:srgbClr val="000066"/>
              </a:solidFill>
            </a:endParaRPr>
          </a:p>
          <a:p>
            <a:pPr marL="457200" lvl="1" indent="0">
              <a:buNone/>
            </a:pPr>
            <a:endParaRPr lang="en-US" sz="1800">
              <a:solidFill>
                <a:srgbClr val="FF0000"/>
              </a:solidFill>
            </a:endParaRPr>
          </a:p>
          <a:p>
            <a:pPr lvl="1"/>
            <a:endParaRPr lang="vi-VN" sz="1800">
              <a:solidFill>
                <a:srgbClr val="000066"/>
              </a:solidFill>
            </a:endParaRPr>
          </a:p>
          <a:p>
            <a:endParaRPr lang="en-US" altLang="en-US" sz="1600">
              <a:solidFill>
                <a:srgbClr val="000066"/>
              </a:solidFill>
            </a:endParaRPr>
          </a:p>
          <a:p>
            <a:pPr marL="457200" lvl="1" indent="0">
              <a:buNone/>
            </a:pPr>
            <a:endParaRPr lang="en-US" altLang="en-US" sz="1600">
              <a:solidFill>
                <a:srgbClr val="000066"/>
              </a:solidFill>
            </a:endParaRPr>
          </a:p>
        </p:txBody>
      </p:sp>
      <p:sp>
        <p:nvSpPr>
          <p:cNvPr id="7" name="Arrow: Curved Left 6">
            <a:extLst>
              <a:ext uri="{FF2B5EF4-FFF2-40B4-BE49-F238E27FC236}">
                <a16:creationId xmlns:a16="http://schemas.microsoft.com/office/drawing/2014/main" id="{C4D8412A-DF60-441E-AE90-AE6B42FAFEF5}"/>
              </a:ext>
            </a:extLst>
          </p:cNvPr>
          <p:cNvSpPr/>
          <p:nvPr/>
        </p:nvSpPr>
        <p:spPr>
          <a:xfrm>
            <a:off x="6821852" y="3384160"/>
            <a:ext cx="983954" cy="1294205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8C6D0F-4CBE-40A1-9F0B-5D9CA39C8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787" y="2120108"/>
            <a:ext cx="7058025" cy="1200150"/>
          </a:xfrm>
          <a:prstGeom prst="rect">
            <a:avLst/>
          </a:prstGeom>
          <a:ln w="22225">
            <a:solidFill>
              <a:srgbClr val="00B050"/>
            </a:solidFill>
            <a:tailEnd type="triangle"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6CDED9-51C7-409D-B110-A7E32D1C59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528" y="4031262"/>
            <a:ext cx="6181725" cy="1171575"/>
          </a:xfrm>
          <a:prstGeom prst="rect">
            <a:avLst/>
          </a:prstGeom>
          <a:ln w="22225">
            <a:solidFill>
              <a:srgbClr val="00B050"/>
            </a:solidFill>
            <a:tailEnd type="triangle"/>
          </a:ln>
        </p:spPr>
      </p:pic>
    </p:spTree>
    <p:extLst>
      <p:ext uri="{BB962C8B-B14F-4D97-AF65-F5344CB8AC3E}">
        <p14:creationId xmlns:p14="http://schemas.microsoft.com/office/powerpoint/2010/main" val="16746139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9BDDEA1-EB52-5045-BCA0-428BA585141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17241" y="3203575"/>
            <a:ext cx="7623110" cy="4508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40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6</a:t>
            </a:r>
            <a:r>
              <a:rPr lang="en-VN" sz="40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Hướng dẫn làm và tham chiếu tài liệu tham khảo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3F8FD2-15EE-9461-139C-415CAF0544A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86600" y="6572250"/>
            <a:ext cx="2057400" cy="365125"/>
          </a:xfrm>
          <a:prstGeom prst="rect">
            <a:avLst/>
          </a:prstGeom>
        </p:spPr>
        <p:txBody>
          <a:bodyPr/>
          <a:lstStyle/>
          <a:p>
            <a:fld id="{11F88B7E-86B8-4862-842E-2DB840C1EC76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13925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0D1D9B-DE9C-47A5-BE79-2E0B24C36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  <p:sp>
        <p:nvSpPr>
          <p:cNvPr id="8519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600"/>
              <a:t>TÀI LIỆU THAM KHẢO (1)</a:t>
            </a:r>
          </a:p>
        </p:txBody>
      </p:sp>
      <p:sp>
        <p:nvSpPr>
          <p:cNvPr id="851973" name="Rectangle 3"/>
          <p:cNvSpPr>
            <a:spLocks noChangeArrowheads="1"/>
          </p:cNvSpPr>
          <p:nvPr/>
        </p:nvSpPr>
        <p:spPr bwMode="auto">
          <a:xfrm>
            <a:off x="359797" y="698157"/>
            <a:ext cx="84582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33CC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 err="1">
                <a:solidFill>
                  <a:srgbClr val="000066"/>
                </a:solidFill>
              </a:rPr>
              <a:t>Bổ</a:t>
            </a:r>
            <a:r>
              <a:rPr lang="en-US" sz="2000">
                <a:solidFill>
                  <a:srgbClr val="000066"/>
                </a:solidFill>
              </a:rPr>
              <a:t> sung </a:t>
            </a:r>
            <a:r>
              <a:rPr lang="en-US" sz="2000" err="1">
                <a:solidFill>
                  <a:srgbClr val="000066"/>
                </a:solidFill>
              </a:rPr>
              <a:t>thông</a:t>
            </a:r>
            <a:r>
              <a:rPr lang="en-US" sz="2000">
                <a:solidFill>
                  <a:srgbClr val="000066"/>
                </a:solidFill>
              </a:rPr>
              <a:t> tin </a:t>
            </a:r>
            <a:r>
              <a:rPr lang="en-US" sz="2000" err="1">
                <a:solidFill>
                  <a:srgbClr val="000066"/>
                </a:solidFill>
              </a:rPr>
              <a:t>của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tài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liệu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đó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vào</a:t>
            </a:r>
            <a:r>
              <a:rPr lang="en-US" sz="2000">
                <a:solidFill>
                  <a:srgbClr val="000066"/>
                </a:solidFill>
              </a:rPr>
              <a:t> file </a:t>
            </a:r>
            <a:r>
              <a:rPr lang="en-US" sz="2000" err="1">
                <a:solidFill>
                  <a:srgbClr val="000066"/>
                </a:solidFill>
              </a:rPr>
              <a:t>references.bib</a:t>
            </a:r>
            <a:endParaRPr lang="en-US" sz="2000">
              <a:solidFill>
                <a:srgbClr val="000066"/>
              </a:solidFill>
            </a:endParaRPr>
          </a:p>
          <a:p>
            <a:r>
              <a:rPr lang="en-US" altLang="en-US" sz="2000" err="1">
                <a:solidFill>
                  <a:srgbClr val="000066"/>
                </a:solidFill>
              </a:rPr>
              <a:t>Lệnh</a:t>
            </a:r>
            <a:r>
              <a:rPr lang="en-US" altLang="en-US" sz="2000">
                <a:solidFill>
                  <a:srgbClr val="000066"/>
                </a:solidFill>
              </a:rPr>
              <a:t> \cite{ID} </a:t>
            </a:r>
            <a:r>
              <a:rPr lang="en-US" altLang="en-US" sz="2000">
                <a:solidFill>
                  <a:srgbClr val="000066"/>
                </a:solidFill>
                <a:sym typeface="Wingdings" panose="05000000000000000000" pitchFamily="2" charset="2"/>
              </a:rPr>
              <a:t> </a:t>
            </a:r>
            <a:r>
              <a:rPr lang="en-US" altLang="en-US" sz="2000" err="1">
                <a:solidFill>
                  <a:srgbClr val="000066"/>
                </a:solidFill>
                <a:sym typeface="Wingdings" panose="05000000000000000000" pitchFamily="2" charset="2"/>
              </a:rPr>
              <a:t>tham</a:t>
            </a:r>
            <a:r>
              <a:rPr lang="en-US" altLang="en-US" sz="2000">
                <a:solidFill>
                  <a:srgbClr val="000066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2000" err="1">
                <a:solidFill>
                  <a:srgbClr val="000066"/>
                </a:solidFill>
                <a:sym typeface="Wingdings" panose="05000000000000000000" pitchFamily="2" charset="2"/>
              </a:rPr>
              <a:t>chiếu</a:t>
            </a:r>
            <a:r>
              <a:rPr lang="en-US" altLang="en-US" sz="2000">
                <a:solidFill>
                  <a:srgbClr val="000066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2000" err="1">
                <a:solidFill>
                  <a:srgbClr val="000066"/>
                </a:solidFill>
                <a:sym typeface="Wingdings" panose="05000000000000000000" pitchFamily="2" charset="2"/>
              </a:rPr>
              <a:t>đến</a:t>
            </a:r>
            <a:r>
              <a:rPr lang="en-US" altLang="en-US" sz="2000">
                <a:solidFill>
                  <a:srgbClr val="000066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2000" err="1">
                <a:solidFill>
                  <a:srgbClr val="000066"/>
                </a:solidFill>
                <a:sym typeface="Wingdings" panose="05000000000000000000" pitchFamily="2" charset="2"/>
              </a:rPr>
              <a:t>tài</a:t>
            </a:r>
            <a:r>
              <a:rPr lang="en-US" altLang="en-US" sz="2000">
                <a:solidFill>
                  <a:srgbClr val="000066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2000" err="1">
                <a:solidFill>
                  <a:srgbClr val="000066"/>
                </a:solidFill>
                <a:sym typeface="Wingdings" panose="05000000000000000000" pitchFamily="2" charset="2"/>
              </a:rPr>
              <a:t>liệu</a:t>
            </a:r>
            <a:r>
              <a:rPr lang="en-US" altLang="en-US" sz="2000">
                <a:solidFill>
                  <a:srgbClr val="000066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2000" err="1">
                <a:solidFill>
                  <a:srgbClr val="000066"/>
                </a:solidFill>
                <a:sym typeface="Wingdings" panose="05000000000000000000" pitchFamily="2" charset="2"/>
              </a:rPr>
              <a:t>đó</a:t>
            </a:r>
            <a:r>
              <a:rPr lang="en-US" altLang="en-US" sz="2000">
                <a:solidFill>
                  <a:srgbClr val="000066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2000" err="1">
                <a:solidFill>
                  <a:srgbClr val="000066"/>
                </a:solidFill>
                <a:sym typeface="Wingdings" panose="05000000000000000000" pitchFamily="2" charset="2"/>
              </a:rPr>
              <a:t>trong</a:t>
            </a:r>
            <a:r>
              <a:rPr lang="en-US" altLang="en-US" sz="2000">
                <a:solidFill>
                  <a:srgbClr val="000066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2000" err="1">
                <a:solidFill>
                  <a:srgbClr val="000066"/>
                </a:solidFill>
                <a:sym typeface="Wingdings" panose="05000000000000000000" pitchFamily="2" charset="2"/>
              </a:rPr>
              <a:t>nội</a:t>
            </a:r>
            <a:r>
              <a:rPr lang="en-US" altLang="en-US" sz="2000">
                <a:solidFill>
                  <a:srgbClr val="000066"/>
                </a:solidFill>
                <a:sym typeface="Wingdings" panose="05000000000000000000" pitchFamily="2" charset="2"/>
              </a:rPr>
              <a:t> dung </a:t>
            </a:r>
            <a:r>
              <a:rPr lang="en-US" altLang="en-US" sz="2000" err="1">
                <a:solidFill>
                  <a:srgbClr val="000066"/>
                </a:solidFill>
                <a:sym typeface="Wingdings" panose="05000000000000000000" pitchFamily="2" charset="2"/>
              </a:rPr>
              <a:t>báo</a:t>
            </a:r>
            <a:r>
              <a:rPr lang="en-US" altLang="en-US" sz="2000">
                <a:solidFill>
                  <a:srgbClr val="000066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2000" err="1">
                <a:solidFill>
                  <a:srgbClr val="000066"/>
                </a:solidFill>
                <a:sym typeface="Wingdings" panose="05000000000000000000" pitchFamily="2" charset="2"/>
              </a:rPr>
              <a:t>cáo</a:t>
            </a:r>
            <a:r>
              <a:rPr lang="en-US" altLang="en-US" sz="2000">
                <a:solidFill>
                  <a:srgbClr val="000066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2000" err="1">
                <a:solidFill>
                  <a:srgbClr val="000066"/>
                </a:solidFill>
                <a:sym typeface="Wingdings" panose="05000000000000000000" pitchFamily="2" charset="2"/>
              </a:rPr>
              <a:t>với</a:t>
            </a:r>
            <a:r>
              <a:rPr lang="en-US" altLang="en-US" sz="2000">
                <a:solidFill>
                  <a:srgbClr val="000066"/>
                </a:solidFill>
                <a:sym typeface="Wingdings" panose="05000000000000000000" pitchFamily="2" charset="2"/>
              </a:rPr>
              <a:t> </a:t>
            </a:r>
            <a:r>
              <a:rPr lang="en-US" sz="2000">
                <a:solidFill>
                  <a:srgbClr val="000066"/>
                </a:solidFill>
              </a:rPr>
              <a:t>ID </a:t>
            </a:r>
            <a:r>
              <a:rPr lang="en-US" sz="2000" err="1">
                <a:solidFill>
                  <a:srgbClr val="000066"/>
                </a:solidFill>
              </a:rPr>
              <a:t>là</a:t>
            </a:r>
            <a:r>
              <a:rPr lang="en-US" sz="2000">
                <a:solidFill>
                  <a:srgbClr val="000066"/>
                </a:solidFill>
              </a:rPr>
              <a:t> ID </a:t>
            </a:r>
            <a:r>
              <a:rPr lang="en-US" sz="2000" err="1">
                <a:solidFill>
                  <a:srgbClr val="000066"/>
                </a:solidFill>
              </a:rPr>
              <a:t>của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tài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liệu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được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bổ</a:t>
            </a:r>
            <a:r>
              <a:rPr lang="en-US" sz="2000">
                <a:solidFill>
                  <a:srgbClr val="000066"/>
                </a:solidFill>
              </a:rPr>
              <a:t> sung </a:t>
            </a:r>
            <a:r>
              <a:rPr lang="en-US" sz="2000" err="1">
                <a:solidFill>
                  <a:srgbClr val="000066"/>
                </a:solidFill>
              </a:rPr>
              <a:t>tương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ứng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trong</a:t>
            </a:r>
            <a:r>
              <a:rPr lang="en-US" sz="2000">
                <a:solidFill>
                  <a:srgbClr val="000066"/>
                </a:solidFill>
              </a:rPr>
              <a:t> file </a:t>
            </a:r>
            <a:r>
              <a:rPr lang="en-US" sz="2000" err="1">
                <a:solidFill>
                  <a:srgbClr val="000066"/>
                </a:solidFill>
              </a:rPr>
              <a:t>references.bib</a:t>
            </a:r>
            <a:endParaRPr lang="en-US" sz="2000">
              <a:solidFill>
                <a:srgbClr val="000066"/>
              </a:solidFill>
            </a:endParaRPr>
          </a:p>
          <a:p>
            <a:r>
              <a:rPr lang="en-US" sz="2000" err="1">
                <a:solidFill>
                  <a:srgbClr val="000066"/>
                </a:solidFill>
              </a:rPr>
              <a:t>Ví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dụ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một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bibtex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nh</a:t>
            </a:r>
            <a:r>
              <a:rPr lang="vi-VN" sz="2000">
                <a:solidFill>
                  <a:srgbClr val="000066"/>
                </a:solidFill>
              </a:rPr>
              <a:t>ư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sau</a:t>
            </a:r>
            <a:endParaRPr lang="en-US" sz="2000">
              <a:solidFill>
                <a:srgbClr val="000066"/>
              </a:solidFill>
            </a:endParaRPr>
          </a:p>
          <a:p>
            <a:endParaRPr lang="en-US" sz="2000">
              <a:solidFill>
                <a:srgbClr val="000066"/>
              </a:solidFill>
            </a:endParaRPr>
          </a:p>
          <a:p>
            <a:endParaRPr lang="en-US" altLang="en-US" sz="2000">
              <a:solidFill>
                <a:srgbClr val="000066"/>
              </a:solidFill>
              <a:sym typeface="Wingdings" panose="05000000000000000000" pitchFamily="2" charset="2"/>
            </a:endParaRPr>
          </a:p>
          <a:p>
            <a:endParaRPr lang="en-US" altLang="en-US" sz="2000">
              <a:solidFill>
                <a:srgbClr val="000066"/>
              </a:solidFill>
              <a:sym typeface="Wingdings" panose="05000000000000000000" pitchFamily="2" charset="2"/>
            </a:endParaRPr>
          </a:p>
          <a:p>
            <a:endParaRPr lang="en-US" altLang="en-US" sz="2000">
              <a:solidFill>
                <a:srgbClr val="000066"/>
              </a:solidFill>
              <a:sym typeface="Wingdings" panose="05000000000000000000" pitchFamily="2" charset="2"/>
            </a:endParaRPr>
          </a:p>
          <a:p>
            <a:endParaRPr lang="en-US" altLang="en-US" sz="2000">
              <a:solidFill>
                <a:srgbClr val="000066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en-US" sz="2000">
                <a:solidFill>
                  <a:srgbClr val="000066"/>
                </a:solidFill>
                <a:sym typeface="Wingdings" panose="05000000000000000000" pitchFamily="2" charset="2"/>
              </a:rPr>
              <a:t>         </a:t>
            </a:r>
            <a:r>
              <a:rPr lang="en-US" sz="2000" err="1">
                <a:solidFill>
                  <a:srgbClr val="000066"/>
                </a:solidFill>
              </a:rPr>
              <a:t>xâu</a:t>
            </a:r>
            <a:r>
              <a:rPr lang="en-US" sz="2000">
                <a:solidFill>
                  <a:srgbClr val="000066"/>
                </a:solidFill>
              </a:rPr>
              <a:t> harris2009cloud </a:t>
            </a:r>
            <a:r>
              <a:rPr lang="en-US" sz="2000" err="1">
                <a:solidFill>
                  <a:srgbClr val="000066"/>
                </a:solidFill>
              </a:rPr>
              <a:t>là</a:t>
            </a:r>
            <a:r>
              <a:rPr lang="en-US" sz="2000">
                <a:solidFill>
                  <a:srgbClr val="000066"/>
                </a:solidFill>
              </a:rPr>
              <a:t> ID </a:t>
            </a:r>
            <a:r>
              <a:rPr lang="en-US" sz="2000" err="1">
                <a:solidFill>
                  <a:srgbClr val="000066"/>
                </a:solidFill>
              </a:rPr>
              <a:t>dùng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để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tham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chiếu</a:t>
            </a:r>
            <a:r>
              <a:rPr lang="en-US" sz="2000">
                <a:solidFill>
                  <a:srgbClr val="000066"/>
                </a:solidFill>
              </a:rPr>
              <a:t> </a:t>
            </a:r>
          </a:p>
          <a:p>
            <a:pPr marL="0" indent="0">
              <a:buNone/>
            </a:pPr>
            <a:r>
              <a:rPr lang="en-US" altLang="en-US" sz="2000">
                <a:solidFill>
                  <a:srgbClr val="000066"/>
                </a:solidFill>
                <a:sym typeface="Wingdings" panose="05000000000000000000" pitchFamily="2" charset="2"/>
              </a:rPr>
              <a:t> </a:t>
            </a:r>
            <a:endParaRPr lang="en-US" altLang="en-US" sz="2000">
              <a:solidFill>
                <a:srgbClr val="000066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FFDB44-1019-49BB-93EA-D6C1A63F3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442" y="2341779"/>
            <a:ext cx="7162800" cy="1256066"/>
          </a:xfrm>
          <a:prstGeom prst="rect">
            <a:avLst/>
          </a:prstGeom>
          <a:ln w="22225">
            <a:solidFill>
              <a:srgbClr val="00B050"/>
            </a:solidFill>
            <a:tailEnd type="triangle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3B4158-9D01-4B48-B5F4-8F9EA9B774F2}"/>
              </a:ext>
            </a:extLst>
          </p:cNvPr>
          <p:cNvSpPr txBox="1"/>
          <p:nvPr/>
        </p:nvSpPr>
        <p:spPr>
          <a:xfrm>
            <a:off x="4114800" y="2969812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8F2F7B-EA57-4DAC-8833-E11CEB4C0E4A}"/>
              </a:ext>
            </a:extLst>
          </p:cNvPr>
          <p:cNvSpPr txBox="1"/>
          <p:nvPr/>
        </p:nvSpPr>
        <p:spPr>
          <a:xfrm>
            <a:off x="1714500" y="4673146"/>
            <a:ext cx="5562600" cy="92333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vi-VN"/>
              <a:t>Sinh viên không được đưa </a:t>
            </a:r>
            <a:r>
              <a:rPr lang="en-US" err="1"/>
              <a:t>tài</a:t>
            </a:r>
            <a:r>
              <a:rPr lang="en-US"/>
              <a:t> </a:t>
            </a:r>
            <a:r>
              <a:rPr lang="en-US" err="1"/>
              <a:t>liệu</a:t>
            </a:r>
            <a:r>
              <a:rPr lang="en-US"/>
              <a:t> </a:t>
            </a:r>
            <a:r>
              <a:rPr lang="en-US" err="1"/>
              <a:t>không</a:t>
            </a:r>
            <a:r>
              <a:rPr lang="en-US"/>
              <a:t> đ</a:t>
            </a:r>
            <a:r>
              <a:rPr lang="vi-VN"/>
              <a:t>ư</a:t>
            </a:r>
            <a:r>
              <a:rPr lang="en-US" err="1"/>
              <a:t>ợc</a:t>
            </a:r>
            <a:r>
              <a:rPr lang="en-US"/>
              <a:t> </a:t>
            </a:r>
            <a:r>
              <a:rPr lang="en-US" err="1"/>
              <a:t>kiểm</a:t>
            </a:r>
            <a:r>
              <a:rPr lang="en-US"/>
              <a:t> </a:t>
            </a:r>
            <a:r>
              <a:rPr lang="en-US" err="1"/>
              <a:t>chứng</a:t>
            </a:r>
            <a:r>
              <a:rPr lang="vi-VN"/>
              <a:t>, các trang Wikipedia, hoặc các</a:t>
            </a:r>
            <a:r>
              <a:rPr lang="en-US"/>
              <a:t> </a:t>
            </a:r>
            <a:r>
              <a:rPr lang="vi-VN"/>
              <a:t>trang web thông thường làm tài liệu tham khảo.</a:t>
            </a:r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E91BE96-FC61-408C-8DD5-8C80F106C456}"/>
              </a:ext>
            </a:extLst>
          </p:cNvPr>
          <p:cNvGrpSpPr/>
          <p:nvPr/>
        </p:nvGrpSpPr>
        <p:grpSpPr>
          <a:xfrm>
            <a:off x="2859594" y="4282090"/>
            <a:ext cx="3124200" cy="2019541"/>
            <a:chOff x="2819400" y="3733800"/>
            <a:chExt cx="3124200" cy="2019541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926AE50-6ED2-4764-94B1-E2CAC171BE32}"/>
                </a:ext>
              </a:extLst>
            </p:cNvPr>
            <p:cNvCxnSpPr>
              <a:cxnSpLocks/>
            </p:cNvCxnSpPr>
            <p:nvPr/>
          </p:nvCxnSpPr>
          <p:spPr>
            <a:xfrm>
              <a:off x="2819400" y="3849335"/>
              <a:ext cx="3124200" cy="1713265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075CB8D-BEE9-4FB3-8AE3-034D8742FADE}"/>
                </a:ext>
              </a:extLst>
            </p:cNvPr>
            <p:cNvCxnSpPr/>
            <p:nvPr/>
          </p:nvCxnSpPr>
          <p:spPr>
            <a:xfrm flipH="1">
              <a:off x="3276600" y="3733800"/>
              <a:ext cx="1981200" cy="2019541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15174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0D1D9B-DE9C-47A5-BE79-2E0B24C36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  <p:sp>
        <p:nvSpPr>
          <p:cNvPr id="8519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600"/>
              <a:t>TÀI LIỆU THAM KHẢO (2)</a:t>
            </a:r>
          </a:p>
        </p:txBody>
      </p:sp>
      <p:sp>
        <p:nvSpPr>
          <p:cNvPr id="851973" name="Rectangle 3"/>
          <p:cNvSpPr>
            <a:spLocks noChangeArrowheads="1"/>
          </p:cNvSpPr>
          <p:nvPr/>
        </p:nvSpPr>
        <p:spPr bwMode="auto">
          <a:xfrm>
            <a:off x="359797" y="1115008"/>
            <a:ext cx="84582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33CC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err="1">
                <a:solidFill>
                  <a:srgbClr val="000066"/>
                </a:solidFill>
                <a:sym typeface="Wingdings" panose="05000000000000000000" pitchFamily="2" charset="2"/>
              </a:rPr>
              <a:t>Có</a:t>
            </a:r>
            <a:r>
              <a:rPr lang="en-US" altLang="en-US" sz="2000">
                <a:solidFill>
                  <a:srgbClr val="000066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2000" err="1">
                <a:solidFill>
                  <a:srgbClr val="000066"/>
                </a:solidFill>
                <a:sym typeface="Wingdings" panose="05000000000000000000" pitchFamily="2" charset="2"/>
              </a:rPr>
              <a:t>nhiều</a:t>
            </a:r>
            <a:r>
              <a:rPr lang="en-US" altLang="en-US" sz="2000">
                <a:solidFill>
                  <a:srgbClr val="000066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2000" err="1">
                <a:solidFill>
                  <a:srgbClr val="000066"/>
                </a:solidFill>
                <a:sym typeface="Wingdings" panose="05000000000000000000" pitchFamily="2" charset="2"/>
              </a:rPr>
              <a:t>cách</a:t>
            </a:r>
            <a:r>
              <a:rPr lang="en-US" altLang="en-US" sz="2000">
                <a:solidFill>
                  <a:srgbClr val="000066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2000" err="1">
                <a:solidFill>
                  <a:srgbClr val="000066"/>
                </a:solidFill>
                <a:sym typeface="Wingdings" panose="05000000000000000000" pitchFamily="2" charset="2"/>
              </a:rPr>
              <a:t>để</a:t>
            </a:r>
            <a:r>
              <a:rPr lang="en-US" altLang="en-US" sz="2000">
                <a:solidFill>
                  <a:srgbClr val="000066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2000" err="1">
                <a:solidFill>
                  <a:srgbClr val="000066"/>
                </a:solidFill>
                <a:sym typeface="Wingdings" panose="05000000000000000000" pitchFamily="2" charset="2"/>
              </a:rPr>
              <a:t>lấy</a:t>
            </a:r>
            <a:r>
              <a:rPr lang="en-US" altLang="en-US" sz="2000">
                <a:solidFill>
                  <a:srgbClr val="000066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2000" err="1">
                <a:solidFill>
                  <a:srgbClr val="000066"/>
                </a:solidFill>
                <a:sym typeface="Wingdings" panose="05000000000000000000" pitchFamily="2" charset="2"/>
              </a:rPr>
              <a:t>bibTeX</a:t>
            </a:r>
            <a:r>
              <a:rPr lang="en-US" altLang="en-US" sz="2000">
                <a:solidFill>
                  <a:srgbClr val="000066"/>
                </a:solidFill>
                <a:sym typeface="Wingdings" panose="05000000000000000000" pitchFamily="2" charset="2"/>
              </a:rPr>
              <a:t> file, </a:t>
            </a:r>
            <a:r>
              <a:rPr lang="en-US" altLang="en-US" sz="2000" err="1">
                <a:solidFill>
                  <a:srgbClr val="000066"/>
                </a:solidFill>
                <a:sym typeface="Wingdings" panose="05000000000000000000" pitchFamily="2" charset="2"/>
              </a:rPr>
              <a:t>ví</a:t>
            </a:r>
            <a:r>
              <a:rPr lang="en-US" altLang="en-US" sz="2000">
                <a:solidFill>
                  <a:srgbClr val="000066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2000" err="1">
                <a:solidFill>
                  <a:srgbClr val="000066"/>
                </a:solidFill>
                <a:sym typeface="Wingdings" panose="05000000000000000000" pitchFamily="2" charset="2"/>
              </a:rPr>
              <a:t>dụ</a:t>
            </a:r>
            <a:r>
              <a:rPr lang="en-US" altLang="en-US" sz="2000">
                <a:solidFill>
                  <a:srgbClr val="000066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2000" err="1">
                <a:solidFill>
                  <a:srgbClr val="000066"/>
                </a:solidFill>
                <a:sym typeface="Wingdings" panose="05000000000000000000" pitchFamily="2" charset="2"/>
              </a:rPr>
              <a:t>sử</a:t>
            </a:r>
            <a:r>
              <a:rPr lang="en-US" altLang="en-US" sz="2000">
                <a:solidFill>
                  <a:srgbClr val="000066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2000" err="1">
                <a:solidFill>
                  <a:srgbClr val="000066"/>
                </a:solidFill>
                <a:sym typeface="Wingdings" panose="05000000000000000000" pitchFamily="2" charset="2"/>
              </a:rPr>
              <a:t>dụng</a:t>
            </a:r>
            <a:r>
              <a:rPr lang="en-US" altLang="en-US" sz="2000">
                <a:solidFill>
                  <a:srgbClr val="000066"/>
                </a:solidFill>
                <a:sym typeface="Wingdings" panose="05000000000000000000" pitchFamily="2" charset="2"/>
              </a:rPr>
              <a:t> google scholar:</a:t>
            </a:r>
          </a:p>
          <a:p>
            <a:pPr marL="0" indent="0">
              <a:buNone/>
            </a:pPr>
            <a:r>
              <a:rPr lang="en-US" altLang="en-US" sz="2000">
                <a:solidFill>
                  <a:srgbClr val="000066"/>
                </a:solidFill>
                <a:sym typeface="Wingdings" panose="05000000000000000000" pitchFamily="2" charset="2"/>
              </a:rPr>
              <a:t>B</a:t>
            </a:r>
            <a:r>
              <a:rPr lang="vi-VN" altLang="en-US" sz="2000">
                <a:solidFill>
                  <a:srgbClr val="000066"/>
                </a:solidFill>
                <a:sym typeface="Wingdings" panose="05000000000000000000" pitchFamily="2" charset="2"/>
              </a:rPr>
              <a:t>ư</a:t>
            </a:r>
            <a:r>
              <a:rPr lang="en-US" altLang="en-US" sz="2000" err="1">
                <a:solidFill>
                  <a:srgbClr val="000066"/>
                </a:solidFill>
                <a:sym typeface="Wingdings" panose="05000000000000000000" pitchFamily="2" charset="2"/>
              </a:rPr>
              <a:t>ớc</a:t>
            </a:r>
            <a:r>
              <a:rPr lang="en-US" altLang="en-US" sz="2000">
                <a:solidFill>
                  <a:srgbClr val="000066"/>
                </a:solidFill>
                <a:sym typeface="Wingdings" panose="05000000000000000000" pitchFamily="2" charset="2"/>
              </a:rPr>
              <a:t> 1: </a:t>
            </a:r>
            <a:r>
              <a:rPr lang="en-US" altLang="en-US" sz="1800" err="1">
                <a:solidFill>
                  <a:srgbClr val="000066"/>
                </a:solidFill>
                <a:sym typeface="Wingdings" panose="05000000000000000000" pitchFamily="2" charset="2"/>
              </a:rPr>
              <a:t>Truy</a:t>
            </a:r>
            <a:r>
              <a:rPr lang="en-US" altLang="en-US" sz="1800">
                <a:solidFill>
                  <a:srgbClr val="000066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1800" err="1">
                <a:solidFill>
                  <a:srgbClr val="000066"/>
                </a:solidFill>
                <a:sym typeface="Wingdings" panose="05000000000000000000" pitchFamily="2" charset="2"/>
              </a:rPr>
              <a:t>cập</a:t>
            </a:r>
            <a:r>
              <a:rPr lang="en-US" altLang="en-US" sz="1800">
                <a:solidFill>
                  <a:srgbClr val="000066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1800" err="1">
                <a:solidFill>
                  <a:srgbClr val="000066"/>
                </a:solidFill>
                <a:sym typeface="Wingdings" panose="05000000000000000000" pitchFamily="2" charset="2"/>
              </a:rPr>
              <a:t>vào</a:t>
            </a:r>
            <a:r>
              <a:rPr lang="en-US" altLang="en-US" sz="1800">
                <a:solidFill>
                  <a:srgbClr val="000066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1800" err="1">
                <a:solidFill>
                  <a:srgbClr val="000066"/>
                </a:solidFill>
                <a:sym typeface="Wingdings" panose="05000000000000000000" pitchFamily="2" charset="2"/>
              </a:rPr>
              <a:t>trang</a:t>
            </a:r>
            <a:r>
              <a:rPr lang="en-US" altLang="en-US" sz="1800">
                <a:solidFill>
                  <a:srgbClr val="000066"/>
                </a:solidFill>
                <a:sym typeface="Wingdings" panose="05000000000000000000" pitchFamily="2" charset="2"/>
              </a:rPr>
              <a:t> web: </a:t>
            </a:r>
            <a:r>
              <a:rPr lang="en-US" altLang="en-US" sz="1800">
                <a:solidFill>
                  <a:srgbClr val="000066"/>
                </a:solidFill>
                <a:sym typeface="Wingdings" panose="05000000000000000000" pitchFamily="2" charset="2"/>
                <a:hlinkClick r:id="rId3"/>
              </a:rPr>
              <a:t>https://scholar.google.com/</a:t>
            </a:r>
            <a:endParaRPr lang="en-US" altLang="en-US" sz="1800">
              <a:solidFill>
                <a:srgbClr val="000066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en-US" sz="1800">
                <a:solidFill>
                  <a:srgbClr val="000066"/>
                </a:solidFill>
                <a:sym typeface="Wingdings" panose="05000000000000000000" pitchFamily="2" charset="2"/>
              </a:rPr>
              <a:t>B</a:t>
            </a:r>
            <a:r>
              <a:rPr lang="vi-VN" altLang="en-US" sz="1800">
                <a:solidFill>
                  <a:srgbClr val="000066"/>
                </a:solidFill>
                <a:sym typeface="Wingdings" panose="05000000000000000000" pitchFamily="2" charset="2"/>
              </a:rPr>
              <a:t>ư</a:t>
            </a:r>
            <a:r>
              <a:rPr lang="en-US" altLang="en-US" sz="1800" err="1">
                <a:solidFill>
                  <a:srgbClr val="000066"/>
                </a:solidFill>
                <a:sym typeface="Wingdings" panose="05000000000000000000" pitchFamily="2" charset="2"/>
              </a:rPr>
              <a:t>ớc</a:t>
            </a:r>
            <a:r>
              <a:rPr lang="en-US" altLang="en-US" sz="1800">
                <a:solidFill>
                  <a:srgbClr val="000066"/>
                </a:solidFill>
                <a:sym typeface="Wingdings" panose="05000000000000000000" pitchFamily="2" charset="2"/>
              </a:rPr>
              <a:t> 2: </a:t>
            </a:r>
            <a:r>
              <a:rPr lang="en-US" altLang="en-US" sz="1800" err="1">
                <a:solidFill>
                  <a:srgbClr val="000066"/>
                </a:solidFill>
                <a:sym typeface="Wingdings" panose="05000000000000000000" pitchFamily="2" charset="2"/>
              </a:rPr>
              <a:t>Gõ</a:t>
            </a:r>
            <a:r>
              <a:rPr lang="en-US" altLang="en-US" sz="1800">
                <a:solidFill>
                  <a:srgbClr val="000066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1800" err="1">
                <a:solidFill>
                  <a:srgbClr val="000066"/>
                </a:solidFill>
                <a:sym typeface="Wingdings" panose="05000000000000000000" pitchFamily="2" charset="2"/>
              </a:rPr>
              <a:t>tên</a:t>
            </a:r>
            <a:r>
              <a:rPr lang="en-US" altLang="en-US" sz="1800">
                <a:solidFill>
                  <a:srgbClr val="000066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1800" err="1">
                <a:solidFill>
                  <a:srgbClr val="000066"/>
                </a:solidFill>
                <a:sym typeface="Wingdings" panose="05000000000000000000" pitchFamily="2" charset="2"/>
              </a:rPr>
              <a:t>tài</a:t>
            </a:r>
            <a:r>
              <a:rPr lang="en-US" altLang="en-US" sz="1800">
                <a:solidFill>
                  <a:srgbClr val="000066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1800" err="1">
                <a:solidFill>
                  <a:srgbClr val="000066"/>
                </a:solidFill>
                <a:sym typeface="Wingdings" panose="05000000000000000000" pitchFamily="2" charset="2"/>
              </a:rPr>
              <a:t>liệu</a:t>
            </a:r>
            <a:r>
              <a:rPr lang="en-US" altLang="en-US" sz="1800">
                <a:solidFill>
                  <a:srgbClr val="000066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1800" err="1">
                <a:solidFill>
                  <a:srgbClr val="000066"/>
                </a:solidFill>
                <a:sym typeface="Wingdings" panose="05000000000000000000" pitchFamily="2" charset="2"/>
              </a:rPr>
              <a:t>tham</a:t>
            </a:r>
            <a:r>
              <a:rPr lang="en-US" altLang="en-US" sz="1800">
                <a:solidFill>
                  <a:srgbClr val="000066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1800" err="1">
                <a:solidFill>
                  <a:srgbClr val="000066"/>
                </a:solidFill>
                <a:sym typeface="Wingdings" panose="05000000000000000000" pitchFamily="2" charset="2"/>
              </a:rPr>
              <a:t>khảo</a:t>
            </a:r>
            <a:r>
              <a:rPr lang="en-US" altLang="en-US" sz="1800">
                <a:solidFill>
                  <a:srgbClr val="000066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1800" err="1">
                <a:solidFill>
                  <a:srgbClr val="000066"/>
                </a:solidFill>
                <a:sym typeface="Wingdings" panose="05000000000000000000" pitchFamily="2" charset="2"/>
              </a:rPr>
              <a:t>vào</a:t>
            </a:r>
            <a:r>
              <a:rPr lang="en-US" altLang="en-US" sz="1800">
                <a:solidFill>
                  <a:srgbClr val="000066"/>
                </a:solidFill>
                <a:sym typeface="Wingdings" panose="05000000000000000000" pitchFamily="2" charset="2"/>
              </a:rPr>
              <a:t> ô </a:t>
            </a:r>
            <a:r>
              <a:rPr lang="en-US" altLang="en-US" sz="1800" err="1">
                <a:solidFill>
                  <a:srgbClr val="000066"/>
                </a:solidFill>
                <a:sym typeface="Wingdings" panose="05000000000000000000" pitchFamily="2" charset="2"/>
              </a:rPr>
              <a:t>tìm</a:t>
            </a:r>
            <a:r>
              <a:rPr lang="en-US" altLang="en-US" sz="1800">
                <a:solidFill>
                  <a:srgbClr val="000066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1800" err="1">
                <a:solidFill>
                  <a:srgbClr val="000066"/>
                </a:solidFill>
                <a:sym typeface="Wingdings" panose="05000000000000000000" pitchFamily="2" charset="2"/>
              </a:rPr>
              <a:t>kiếm</a:t>
            </a:r>
            <a:endParaRPr lang="en-US" altLang="en-US" sz="1800">
              <a:solidFill>
                <a:srgbClr val="000066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en-US" sz="1800">
                <a:solidFill>
                  <a:srgbClr val="000066"/>
                </a:solidFill>
                <a:sym typeface="Wingdings" panose="05000000000000000000" pitchFamily="2" charset="2"/>
              </a:rPr>
              <a:t>B</a:t>
            </a:r>
            <a:r>
              <a:rPr lang="vi-VN" altLang="en-US" sz="1800">
                <a:solidFill>
                  <a:srgbClr val="000066"/>
                </a:solidFill>
                <a:sym typeface="Wingdings" panose="05000000000000000000" pitchFamily="2" charset="2"/>
              </a:rPr>
              <a:t>ư</a:t>
            </a:r>
            <a:r>
              <a:rPr lang="en-US" altLang="en-US" sz="1800" err="1">
                <a:solidFill>
                  <a:srgbClr val="000066"/>
                </a:solidFill>
                <a:sym typeface="Wingdings" panose="05000000000000000000" pitchFamily="2" charset="2"/>
              </a:rPr>
              <a:t>ớc</a:t>
            </a:r>
            <a:r>
              <a:rPr lang="en-US" altLang="en-US" sz="1800">
                <a:solidFill>
                  <a:srgbClr val="000066"/>
                </a:solidFill>
                <a:sym typeface="Wingdings" panose="05000000000000000000" pitchFamily="2" charset="2"/>
              </a:rPr>
              <a:t> 3: </a:t>
            </a:r>
            <a:r>
              <a:rPr lang="en-US" altLang="en-US" sz="1800" err="1">
                <a:solidFill>
                  <a:srgbClr val="000066"/>
                </a:solidFill>
                <a:sym typeface="Wingdings" panose="05000000000000000000" pitchFamily="2" charset="2"/>
              </a:rPr>
              <a:t>Chọn</a:t>
            </a:r>
            <a:r>
              <a:rPr lang="en-US" altLang="en-US" sz="1800">
                <a:solidFill>
                  <a:srgbClr val="000066"/>
                </a:solidFill>
                <a:sym typeface="Wingdings" panose="05000000000000000000" pitchFamily="2" charset="2"/>
              </a:rPr>
              <a:t> “cite”, </a:t>
            </a:r>
            <a:r>
              <a:rPr lang="en-US" altLang="en-US" sz="1800" err="1">
                <a:solidFill>
                  <a:srgbClr val="000066"/>
                </a:solidFill>
                <a:sym typeface="Wingdings" panose="05000000000000000000" pitchFamily="2" charset="2"/>
              </a:rPr>
              <a:t>sau</a:t>
            </a:r>
            <a:r>
              <a:rPr lang="en-US" altLang="en-US" sz="1800">
                <a:solidFill>
                  <a:srgbClr val="000066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1800" err="1">
                <a:solidFill>
                  <a:srgbClr val="000066"/>
                </a:solidFill>
                <a:sym typeface="Wingdings" panose="05000000000000000000" pitchFamily="2" charset="2"/>
              </a:rPr>
              <a:t>đó</a:t>
            </a:r>
            <a:r>
              <a:rPr lang="en-US" altLang="en-US" sz="1800">
                <a:solidFill>
                  <a:srgbClr val="000066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1800" err="1">
                <a:solidFill>
                  <a:srgbClr val="000066"/>
                </a:solidFill>
                <a:sym typeface="Wingdings" panose="05000000000000000000" pitchFamily="2" charset="2"/>
              </a:rPr>
              <a:t>chọn</a:t>
            </a:r>
            <a:r>
              <a:rPr lang="en-US" altLang="en-US" sz="1800">
                <a:solidFill>
                  <a:srgbClr val="000066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1800" err="1">
                <a:solidFill>
                  <a:srgbClr val="000066"/>
                </a:solidFill>
                <a:sym typeface="Wingdings" panose="05000000000000000000" pitchFamily="2" charset="2"/>
              </a:rPr>
              <a:t>BibTeX</a:t>
            </a:r>
            <a:r>
              <a:rPr lang="en-US" altLang="en-US" sz="1800">
                <a:solidFill>
                  <a:srgbClr val="000066"/>
                </a:solidFill>
                <a:sym typeface="Wingdings" panose="05000000000000000000" pitchFamily="2" charset="2"/>
              </a:rPr>
              <a:t> </a:t>
            </a:r>
          </a:p>
          <a:p>
            <a:pPr marL="0" indent="0">
              <a:buNone/>
            </a:pPr>
            <a:endParaRPr lang="en-US" altLang="en-US" sz="1800">
              <a:solidFill>
                <a:srgbClr val="000066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en-US" sz="1800">
              <a:solidFill>
                <a:srgbClr val="000066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en-US" sz="1800">
              <a:solidFill>
                <a:srgbClr val="000066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en-US" sz="1800">
              <a:solidFill>
                <a:srgbClr val="000066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en-US" sz="1800">
              <a:solidFill>
                <a:srgbClr val="000066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en-US" sz="1800">
              <a:solidFill>
                <a:srgbClr val="000066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en-US" sz="1800">
              <a:solidFill>
                <a:srgbClr val="000066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en-US" sz="1800">
              <a:solidFill>
                <a:srgbClr val="000066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en-US" sz="1800">
              <a:solidFill>
                <a:srgbClr val="000066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en-US" sz="1800">
              <a:solidFill>
                <a:srgbClr val="000066"/>
              </a:solidFill>
              <a:sym typeface="Wingdings" panose="05000000000000000000" pitchFamily="2" charset="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3B4158-9D01-4B48-B5F4-8F9EA9B774F2}"/>
              </a:ext>
            </a:extLst>
          </p:cNvPr>
          <p:cNvSpPr txBox="1"/>
          <p:nvPr/>
        </p:nvSpPr>
        <p:spPr>
          <a:xfrm>
            <a:off x="4114800" y="2969812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AD95E2-3581-44F3-BA97-8EB1DE7F7C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612777"/>
            <a:ext cx="4527795" cy="2962807"/>
          </a:xfrm>
          <a:prstGeom prst="rect">
            <a:avLst/>
          </a:prstGeom>
          <a:ln w="22225">
            <a:solidFill>
              <a:srgbClr val="00B050"/>
            </a:solidFill>
            <a:tailEnd type="triangle"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51D488-3803-4C54-962B-CF5B208290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2635" y="2714884"/>
            <a:ext cx="3866559" cy="1773857"/>
          </a:xfrm>
          <a:prstGeom prst="rect">
            <a:avLst/>
          </a:prstGeom>
          <a:ln w="22225">
            <a:solidFill>
              <a:srgbClr val="00B050"/>
            </a:solidFill>
            <a:tailEnd type="triangle"/>
          </a:ln>
        </p:spPr>
      </p:pic>
      <p:sp>
        <p:nvSpPr>
          <p:cNvPr id="9" name="Arrow: Curved Up 8">
            <a:extLst>
              <a:ext uri="{FF2B5EF4-FFF2-40B4-BE49-F238E27FC236}">
                <a16:creationId xmlns:a16="http://schemas.microsoft.com/office/drawing/2014/main" id="{DB7BCDA5-17E5-4B96-B2F8-AB5CACEEA47D}"/>
              </a:ext>
            </a:extLst>
          </p:cNvPr>
          <p:cNvSpPr/>
          <p:nvPr/>
        </p:nvSpPr>
        <p:spPr>
          <a:xfrm>
            <a:off x="4756395" y="4591983"/>
            <a:ext cx="1263135" cy="460321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16144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0D1D9B-DE9C-47A5-BE79-2E0B24C36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  <p:sp>
        <p:nvSpPr>
          <p:cNvPr id="8519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600"/>
              <a:t>TÀI LIỆU THAM KHẢO (3)</a:t>
            </a:r>
          </a:p>
        </p:txBody>
      </p:sp>
      <p:sp>
        <p:nvSpPr>
          <p:cNvPr id="851973" name="Rectangle 3"/>
          <p:cNvSpPr>
            <a:spLocks noChangeArrowheads="1"/>
          </p:cNvSpPr>
          <p:nvPr/>
        </p:nvSpPr>
        <p:spPr bwMode="auto">
          <a:xfrm>
            <a:off x="359797" y="685800"/>
            <a:ext cx="84582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33CC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9pPr>
          </a:lstStyle>
          <a:p>
            <a:r>
              <a:rPr lang="vi-VN" sz="2000">
                <a:solidFill>
                  <a:srgbClr val="000066"/>
                </a:solidFill>
              </a:rPr>
              <a:t>Có </a:t>
            </a:r>
            <a:r>
              <a:rPr lang="en-US" sz="2000">
                <a:solidFill>
                  <a:srgbClr val="000066"/>
                </a:solidFill>
              </a:rPr>
              <a:t>5</a:t>
            </a:r>
            <a:r>
              <a:rPr lang="vi-VN" sz="2000">
                <a:solidFill>
                  <a:srgbClr val="000066"/>
                </a:solidFill>
              </a:rPr>
              <a:t> loại tài liệu tham khảo mà sinh viên phải tuân thủ đúng quy định về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vi-VN" sz="2000">
                <a:solidFill>
                  <a:srgbClr val="000066"/>
                </a:solidFill>
              </a:rPr>
              <a:t>cách thức liệt kê thông tin</a:t>
            </a:r>
            <a:endParaRPr lang="en-US" sz="2000">
              <a:solidFill>
                <a:srgbClr val="000066"/>
              </a:solidFill>
            </a:endParaRPr>
          </a:p>
          <a:p>
            <a:pPr marL="0" indent="0">
              <a:buNone/>
            </a:pPr>
            <a:endParaRPr lang="en-US" altLang="en-US" sz="2000">
              <a:solidFill>
                <a:srgbClr val="00006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BE76A4-A46B-49B2-B640-C79F41D1C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569" y="1447800"/>
            <a:ext cx="8328608" cy="1753067"/>
          </a:xfrm>
          <a:prstGeom prst="rect">
            <a:avLst/>
          </a:prstGeom>
          <a:ln w="22225">
            <a:solidFill>
              <a:srgbClr val="00B050"/>
            </a:solidFill>
            <a:tailEnd type="triangle"/>
          </a:ln>
        </p:spPr>
      </p:pic>
      <p:sp>
        <p:nvSpPr>
          <p:cNvPr id="6" name="Arrow: Curved Left 5">
            <a:extLst>
              <a:ext uri="{FF2B5EF4-FFF2-40B4-BE49-F238E27FC236}">
                <a16:creationId xmlns:a16="http://schemas.microsoft.com/office/drawing/2014/main" id="{98276082-C476-4E5E-AC65-F5E409DD7386}"/>
              </a:ext>
            </a:extLst>
          </p:cNvPr>
          <p:cNvSpPr/>
          <p:nvPr/>
        </p:nvSpPr>
        <p:spPr>
          <a:xfrm>
            <a:off x="7027628" y="3380379"/>
            <a:ext cx="772270" cy="136296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BCB461-7A6B-4EA3-AF25-845E828548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047" y="3738796"/>
            <a:ext cx="6781800" cy="1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4344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0D1D9B-DE9C-47A5-BE79-2E0B24C36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  <p:sp>
        <p:nvSpPr>
          <p:cNvPr id="8519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600"/>
              <a:t>TÀI LIỆU THAM KHẢO (4)</a:t>
            </a:r>
          </a:p>
        </p:txBody>
      </p:sp>
      <p:sp>
        <p:nvSpPr>
          <p:cNvPr id="851973" name="Rectangle 3"/>
          <p:cNvSpPr>
            <a:spLocks noChangeArrowheads="1"/>
          </p:cNvSpPr>
          <p:nvPr/>
        </p:nvSpPr>
        <p:spPr bwMode="auto">
          <a:xfrm>
            <a:off x="359797" y="685800"/>
            <a:ext cx="84582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33CC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 err="1">
                <a:solidFill>
                  <a:srgbClr val="000066"/>
                </a:solidFill>
              </a:rPr>
              <a:t>Tài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liệu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là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sách</a:t>
            </a:r>
            <a:endParaRPr lang="en-US" sz="2000">
              <a:solidFill>
                <a:srgbClr val="000066"/>
              </a:solidFill>
            </a:endParaRPr>
          </a:p>
          <a:p>
            <a:pPr marL="0" indent="0">
              <a:buNone/>
            </a:pPr>
            <a:endParaRPr lang="en-US" altLang="en-US" sz="2000">
              <a:solidFill>
                <a:srgbClr val="000066"/>
              </a:solidFill>
            </a:endParaRPr>
          </a:p>
        </p:txBody>
      </p:sp>
      <p:sp>
        <p:nvSpPr>
          <p:cNvPr id="6" name="Arrow: Curved Left 5">
            <a:extLst>
              <a:ext uri="{FF2B5EF4-FFF2-40B4-BE49-F238E27FC236}">
                <a16:creationId xmlns:a16="http://schemas.microsoft.com/office/drawing/2014/main" id="{98276082-C476-4E5E-AC65-F5E409DD7386}"/>
              </a:ext>
            </a:extLst>
          </p:cNvPr>
          <p:cNvSpPr/>
          <p:nvPr/>
        </p:nvSpPr>
        <p:spPr>
          <a:xfrm>
            <a:off x="6303397" y="3380379"/>
            <a:ext cx="772270" cy="136296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58BF5E-6DCC-48DB-9517-19E781F8D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56355"/>
            <a:ext cx="8754386" cy="1780440"/>
          </a:xfrm>
          <a:prstGeom prst="rect">
            <a:avLst/>
          </a:prstGeom>
          <a:ln w="22225">
            <a:solidFill>
              <a:srgbClr val="00B050"/>
            </a:solidFill>
            <a:tailEnd type="triangle"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C94DB3-AE5A-439D-9CDF-C5004FB169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048" y="3849688"/>
            <a:ext cx="5440166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2983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46F173-178E-6A03-0E2A-F173D1299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F7C03D-FACB-31A3-4EF6-147028631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E46E76-9321-2AFC-5EAC-D5731683AA6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4817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0D1D9B-DE9C-47A5-BE79-2E0B24C36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36</a:t>
            </a:fld>
            <a:endParaRPr lang="en-US" altLang="en-US"/>
          </a:p>
        </p:txBody>
      </p:sp>
      <p:sp>
        <p:nvSpPr>
          <p:cNvPr id="8519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600"/>
              <a:t>TÀI LIỆU THAM KHẢO (5)</a:t>
            </a:r>
          </a:p>
        </p:txBody>
      </p:sp>
      <p:sp>
        <p:nvSpPr>
          <p:cNvPr id="851973" name="Rectangle 3"/>
          <p:cNvSpPr>
            <a:spLocks noChangeArrowheads="1"/>
          </p:cNvSpPr>
          <p:nvPr/>
        </p:nvSpPr>
        <p:spPr bwMode="auto">
          <a:xfrm>
            <a:off x="359797" y="685800"/>
            <a:ext cx="84582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33CC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 err="1">
                <a:solidFill>
                  <a:srgbClr val="000066"/>
                </a:solidFill>
              </a:rPr>
              <a:t>Tài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liệu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là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báo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cáo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hội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nghị</a:t>
            </a:r>
            <a:r>
              <a:rPr lang="en-US" sz="2000">
                <a:solidFill>
                  <a:srgbClr val="000066"/>
                </a:solidFill>
              </a:rPr>
              <a:t> khoa </a:t>
            </a:r>
            <a:r>
              <a:rPr lang="en-US" sz="2000" err="1">
                <a:solidFill>
                  <a:srgbClr val="000066"/>
                </a:solidFill>
              </a:rPr>
              <a:t>học</a:t>
            </a:r>
            <a:endParaRPr lang="en-US" sz="2000">
              <a:solidFill>
                <a:srgbClr val="000066"/>
              </a:solidFill>
            </a:endParaRPr>
          </a:p>
          <a:p>
            <a:pPr marL="0" indent="0">
              <a:buNone/>
            </a:pPr>
            <a:endParaRPr lang="en-US" altLang="en-US" sz="2000">
              <a:solidFill>
                <a:srgbClr val="000066"/>
              </a:solidFill>
            </a:endParaRPr>
          </a:p>
        </p:txBody>
      </p:sp>
      <p:sp>
        <p:nvSpPr>
          <p:cNvPr id="6" name="Arrow: Curved Left 5">
            <a:extLst>
              <a:ext uri="{FF2B5EF4-FFF2-40B4-BE49-F238E27FC236}">
                <a16:creationId xmlns:a16="http://schemas.microsoft.com/office/drawing/2014/main" id="{98276082-C476-4E5E-AC65-F5E409DD7386}"/>
              </a:ext>
            </a:extLst>
          </p:cNvPr>
          <p:cNvSpPr/>
          <p:nvPr/>
        </p:nvSpPr>
        <p:spPr>
          <a:xfrm>
            <a:off x="6303397" y="3380379"/>
            <a:ext cx="772270" cy="136296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308A90-4734-4265-A071-4DC21BAEA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28" y="1138814"/>
            <a:ext cx="8717943" cy="2241565"/>
          </a:xfrm>
          <a:prstGeom prst="rect">
            <a:avLst/>
          </a:prstGeom>
          <a:ln w="22225">
            <a:solidFill>
              <a:srgbClr val="00B050"/>
            </a:solidFill>
            <a:tailEnd type="triangle"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2F0763-3C7D-4AA5-B3C3-F38CC36DC4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572" y="4762529"/>
            <a:ext cx="8816954" cy="150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8396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0D1D9B-DE9C-47A5-BE79-2E0B24C36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  <p:sp>
        <p:nvSpPr>
          <p:cNvPr id="8519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600"/>
              <a:t>TÀI LIỆU THAM KHẢO (6)</a:t>
            </a:r>
          </a:p>
        </p:txBody>
      </p:sp>
      <p:sp>
        <p:nvSpPr>
          <p:cNvPr id="851973" name="Rectangle 3"/>
          <p:cNvSpPr>
            <a:spLocks noChangeArrowheads="1"/>
          </p:cNvSpPr>
          <p:nvPr/>
        </p:nvSpPr>
        <p:spPr bwMode="auto">
          <a:xfrm>
            <a:off x="359797" y="685800"/>
            <a:ext cx="84582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33CC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 err="1">
                <a:solidFill>
                  <a:srgbClr val="000066"/>
                </a:solidFill>
              </a:rPr>
              <a:t>Đồ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án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tốt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nghiệp</a:t>
            </a:r>
            <a:r>
              <a:rPr lang="en-US" sz="2000">
                <a:solidFill>
                  <a:srgbClr val="000066"/>
                </a:solidFill>
              </a:rPr>
              <a:t>, </a:t>
            </a:r>
            <a:r>
              <a:rPr lang="en-US" sz="2000" err="1">
                <a:solidFill>
                  <a:srgbClr val="000066"/>
                </a:solidFill>
              </a:rPr>
              <a:t>luận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văn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thạc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sĩ</a:t>
            </a:r>
            <a:r>
              <a:rPr lang="en-US" sz="2000">
                <a:solidFill>
                  <a:srgbClr val="000066"/>
                </a:solidFill>
              </a:rPr>
              <a:t>, </a:t>
            </a:r>
            <a:r>
              <a:rPr lang="en-US" sz="2000" err="1">
                <a:solidFill>
                  <a:srgbClr val="000066"/>
                </a:solidFill>
              </a:rPr>
              <a:t>tiến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sĩ</a:t>
            </a:r>
            <a:endParaRPr lang="en-US" sz="2000">
              <a:solidFill>
                <a:srgbClr val="000066"/>
              </a:solidFill>
            </a:endParaRPr>
          </a:p>
          <a:p>
            <a:pPr marL="0" indent="0">
              <a:buNone/>
            </a:pPr>
            <a:endParaRPr lang="en-US" altLang="en-US" sz="2000">
              <a:solidFill>
                <a:srgbClr val="000066"/>
              </a:solidFill>
            </a:endParaRPr>
          </a:p>
        </p:txBody>
      </p:sp>
      <p:sp>
        <p:nvSpPr>
          <p:cNvPr id="6" name="Arrow: Curved Left 5">
            <a:extLst>
              <a:ext uri="{FF2B5EF4-FFF2-40B4-BE49-F238E27FC236}">
                <a16:creationId xmlns:a16="http://schemas.microsoft.com/office/drawing/2014/main" id="{98276082-C476-4E5E-AC65-F5E409DD7386}"/>
              </a:ext>
            </a:extLst>
          </p:cNvPr>
          <p:cNvSpPr/>
          <p:nvPr/>
        </p:nvSpPr>
        <p:spPr>
          <a:xfrm>
            <a:off x="6648146" y="3005252"/>
            <a:ext cx="772270" cy="136296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533377-BA63-4E86-9881-480ACA612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24" y="1159168"/>
            <a:ext cx="8747951" cy="1773685"/>
          </a:xfrm>
          <a:prstGeom prst="rect">
            <a:avLst/>
          </a:prstGeom>
          <a:ln w="22225">
            <a:solidFill>
              <a:srgbClr val="00B050"/>
            </a:solidFill>
            <a:tailEnd type="triangle"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07360E-BCAD-4D2F-A2BF-D42E6E4E33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3" y="3686733"/>
            <a:ext cx="6318740" cy="193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5358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0D1D9B-DE9C-47A5-BE79-2E0B24C36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38</a:t>
            </a:fld>
            <a:endParaRPr lang="en-US" altLang="en-US"/>
          </a:p>
        </p:txBody>
      </p:sp>
      <p:sp>
        <p:nvSpPr>
          <p:cNvPr id="8519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600"/>
              <a:t>TÀI LIỆU THAM KHẢO (7)</a:t>
            </a:r>
          </a:p>
        </p:txBody>
      </p:sp>
      <p:sp>
        <p:nvSpPr>
          <p:cNvPr id="851973" name="Rectangle 3"/>
          <p:cNvSpPr>
            <a:spLocks noChangeArrowheads="1"/>
          </p:cNvSpPr>
          <p:nvPr/>
        </p:nvSpPr>
        <p:spPr bwMode="auto">
          <a:xfrm>
            <a:off x="359797" y="685800"/>
            <a:ext cx="84582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33CC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CC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 err="1">
                <a:solidFill>
                  <a:srgbClr val="000066"/>
                </a:solidFill>
              </a:rPr>
              <a:t>Tài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liệu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tham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khảo</a:t>
            </a:r>
            <a:r>
              <a:rPr lang="en-US" sz="2000">
                <a:solidFill>
                  <a:srgbClr val="000066"/>
                </a:solidFill>
              </a:rPr>
              <a:t> </a:t>
            </a:r>
            <a:r>
              <a:rPr lang="en-US" sz="2000" err="1">
                <a:solidFill>
                  <a:srgbClr val="000066"/>
                </a:solidFill>
              </a:rPr>
              <a:t>từ</a:t>
            </a:r>
            <a:r>
              <a:rPr lang="en-US" sz="2000">
                <a:solidFill>
                  <a:srgbClr val="000066"/>
                </a:solidFill>
              </a:rPr>
              <a:t> Internet</a:t>
            </a:r>
          </a:p>
          <a:p>
            <a:pPr marL="0" indent="0">
              <a:buNone/>
            </a:pPr>
            <a:endParaRPr lang="en-US" altLang="en-US" sz="2000">
              <a:solidFill>
                <a:srgbClr val="000066"/>
              </a:solidFill>
            </a:endParaRPr>
          </a:p>
        </p:txBody>
      </p:sp>
      <p:sp>
        <p:nvSpPr>
          <p:cNvPr id="6" name="Arrow: Curved Left 5">
            <a:extLst>
              <a:ext uri="{FF2B5EF4-FFF2-40B4-BE49-F238E27FC236}">
                <a16:creationId xmlns:a16="http://schemas.microsoft.com/office/drawing/2014/main" id="{98276082-C476-4E5E-AC65-F5E409DD7386}"/>
              </a:ext>
            </a:extLst>
          </p:cNvPr>
          <p:cNvSpPr/>
          <p:nvPr/>
        </p:nvSpPr>
        <p:spPr>
          <a:xfrm>
            <a:off x="6648146" y="3005252"/>
            <a:ext cx="772270" cy="136296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D8AE0-E103-4707-80F6-B222EE8D8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210347"/>
            <a:ext cx="8804140" cy="1589541"/>
          </a:xfrm>
          <a:prstGeom prst="rect">
            <a:avLst/>
          </a:prstGeom>
          <a:ln w="22225">
            <a:solidFill>
              <a:srgbClr val="00B050"/>
            </a:solidFill>
            <a:tailEnd type="triangle"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BBAEBE7-525B-40CA-9A46-20D4AF5262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50" y="3432272"/>
            <a:ext cx="6216264" cy="174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570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HUST PPT Template 2021 ( Blue 3X4)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44818D53F76944AC0EE22F9B0720B4" ma:contentTypeVersion="0" ma:contentTypeDescription="Create a new document." ma:contentTypeScope="" ma:versionID="477d617e589b8b5d9a27aa7ac7c15d7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DED37A0-F823-4E50-9E8E-A9ADD1F7F0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3AE2506-9E43-4792-96DC-6C43B3245E7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EC24FA7-28A6-4318-B361-F84D459D0A0E}">
  <ds:schemaRefs>
    <ds:schemaRef ds:uri="241944b7-b02b-49a0-8c36-d9cd5060b24a"/>
    <ds:schemaRef ds:uri="334ef450-17c2-4c59-8996-1f59afd0f82d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HUST PPT Template 2021 ( Blue 3X4)</Template>
  <TotalTime>0</TotalTime>
  <Words>1720</Words>
  <Application>Microsoft Office PowerPoint</Application>
  <PresentationFormat>On-screen Show (4:3)</PresentationFormat>
  <Paragraphs>378</Paragraphs>
  <Slides>39</Slides>
  <Notes>23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HUST PPT Template 2021 ( Blue 3X4)</vt:lpstr>
      <vt:lpstr>PowerPoint Presentation</vt:lpstr>
      <vt:lpstr>PowerPoint Presentation</vt:lpstr>
      <vt:lpstr>NỘI DUNG</vt:lpstr>
      <vt:lpstr>1. So sánh MS Word và LaTeX</vt:lpstr>
      <vt:lpstr>PowerPoint Presentation</vt:lpstr>
      <vt:lpstr>Microsoft Word và LaTeX (1)</vt:lpstr>
      <vt:lpstr>Microsoft Word và LaTeX (2)</vt:lpstr>
      <vt:lpstr>2. Cách thức sử dụng Overleaf</vt:lpstr>
      <vt:lpstr>OVERLEAF LÀ GÌ?</vt:lpstr>
      <vt:lpstr>GIAO DIỆN</vt:lpstr>
      <vt:lpstr>ĐĂNG KÝ VÀ ĐĂNG NHẬP</vt:lpstr>
      <vt:lpstr>COPY PROJECT TỪ TEMPLATE MẪU</vt:lpstr>
      <vt:lpstr>COPY PROJECT TỪ TEMPLATE MẪU (2)</vt:lpstr>
      <vt:lpstr>FILE &amp; FOLDER TRONG TEMPLATE</vt:lpstr>
      <vt:lpstr>3. Chuẩn bị trang bìa</vt:lpstr>
      <vt:lpstr>4. Viết nội dung từng chương</vt:lpstr>
      <vt:lpstr>THƯ MỤC Chuong</vt:lpstr>
      <vt:lpstr>VÍ DỤ: Chương 1</vt:lpstr>
      <vt:lpstr>CHÈN ẢNH VÀ TRÍCH DẪN ẢNH (1)</vt:lpstr>
      <vt:lpstr>CHÈN BẢNG VÀ TRÍCH DẪN BẢNG (1)</vt:lpstr>
      <vt:lpstr>CHÈN BẢNG VÀ TRÍCH DẪN BẢNG (2)</vt:lpstr>
      <vt:lpstr>CHÈN BẢNG VÀ TRÍCH DẪN BẢNG (3)</vt:lpstr>
      <vt:lpstr>CHÈN BẢNG VÀ TRÍCH DẪN BẢNG (3)</vt:lpstr>
      <vt:lpstr>CHÈN BẢNG VÀ TRÍCH DẪN BẢNG (4)</vt:lpstr>
      <vt:lpstr>PHƯƠNG TRÌNH/CÔNG THỨC TOÁN HỌC(1)</vt:lpstr>
      <vt:lpstr>PHƯƠNG TRÌNH/CÔNG THỨC TOÁN HỌC(2)</vt:lpstr>
      <vt:lpstr>PHƯƠNG TRÌNH/CÔNG THỨC TOÁN HỌC(3)</vt:lpstr>
      <vt:lpstr>ĐÁNH DẤU VÀ ĐÁNH SỐ (1)</vt:lpstr>
      <vt:lpstr>Đánh dấu và đánh số (2)</vt:lpstr>
      <vt:lpstr>6. Hướng dẫn làm và tham chiếu tài liệu tham khảo</vt:lpstr>
      <vt:lpstr>TÀI LIỆU THAM KHẢO (1)</vt:lpstr>
      <vt:lpstr>TÀI LIỆU THAM KHẢO (2)</vt:lpstr>
      <vt:lpstr>TÀI LIỆU THAM KHẢO (3)</vt:lpstr>
      <vt:lpstr>TÀI LIỆU THAM KHẢO (4)</vt:lpstr>
      <vt:lpstr>PowerPoint Presentation</vt:lpstr>
      <vt:lpstr>TÀI LIỆU THAM KHẢO (5)</vt:lpstr>
      <vt:lpstr>TÀI LIỆU THAM KHẢO (6)</vt:lpstr>
      <vt:lpstr>TÀI LIỆU THAM KHẢO (7)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Nguyen Thi Thanh Nga</cp:lastModifiedBy>
  <cp:revision>5</cp:revision>
  <dcterms:created xsi:type="dcterms:W3CDTF">2021-05-28T04:32:29Z</dcterms:created>
  <dcterms:modified xsi:type="dcterms:W3CDTF">2026-06-10T09:29:32Z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0x0101000044818D53F76944AC0EE22F9B0720B4</vt:lpwstr>
  </property>
  <property fmtid="{D5CDD505-2E9C-101B-9397-08002B2CF9AE}" pid="3" name="MediaServiceImageTags">
    <vt:lpwstr/>
  </property>
</Properties>
</file>